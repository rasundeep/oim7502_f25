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77" r:id="rId9"/>
    <p:sldId id="276" r:id="rId10"/>
    <p:sldId id="263" r:id="rId11"/>
    <p:sldId id="264" r:id="rId12"/>
  </p:sldIdLst>
  <p:sldSz cx="18288000" cy="10287000"/>
  <p:notesSz cx="6858000" cy="9144000"/>
  <p:embeddedFontLst>
    <p:embeddedFont>
      <p:font typeface="Inclusive Sans" pitchFamily="2" charset="0"/>
      <p:regular r:id="rId14"/>
    </p:embeddedFont>
    <p:embeddedFont>
      <p:font typeface="Lovelace Text" pitchFamily="2" charset="0"/>
      <p:regular r:id="rId15"/>
    </p:embeddedFont>
    <p:embeddedFont>
      <p:font typeface="Lovelace Text Bold" pitchFamily="2" charset="0"/>
      <p:regular r:id="rId16"/>
      <p:bold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60C4EBD-B21C-2645-8354-783A6839FA4C}" v="84" dt="2025-11-10T18:22:17.36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34" autoAdjust="0"/>
    <p:restoredTop sz="94606" autoAdjust="0"/>
  </p:normalViewPr>
  <p:slideViewPr>
    <p:cSldViewPr>
      <p:cViewPr>
        <p:scale>
          <a:sx n="70" d="100"/>
          <a:sy n="70" d="100"/>
        </p:scale>
        <p:origin x="1032" y="48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404703-09EA-E349-AE66-7B8A26FF835D}" type="datetimeFigureOut">
              <a:rPr lang="en-US" smtClean="0"/>
              <a:t>11/10/25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611F8D-4E24-4840-88EC-E490EA169277}" type="slidenum">
              <a:rPr lang="en-US" smtClean="0"/>
              <a:t>‹#›</a:t>
            </a:fld>
            <a:endParaRPr lang="en-US" dirty="0"/>
          </a:p>
        </p:txBody>
      </p:sp>
    </p:spTree>
    <p:extLst>
      <p:ext uri="{BB962C8B-B14F-4D97-AF65-F5344CB8AC3E}">
        <p14:creationId xmlns:p14="http://schemas.microsoft.com/office/powerpoint/2010/main" val="20524718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1611F8D-4E24-4840-88EC-E490EA169277}" type="slidenum">
              <a:rPr lang="en-US" smtClean="0"/>
              <a:t>2</a:t>
            </a:fld>
            <a:endParaRPr lang="en-US" dirty="0"/>
          </a:p>
        </p:txBody>
      </p:sp>
    </p:spTree>
    <p:extLst>
      <p:ext uri="{BB962C8B-B14F-4D97-AF65-F5344CB8AC3E}">
        <p14:creationId xmlns:p14="http://schemas.microsoft.com/office/powerpoint/2010/main" val="34531752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11/10/25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11/10/25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11/10/25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11/10/25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11/10/25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11/10/25</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E1E2F"/>
        </a:solidFill>
        <a:effectLst/>
      </p:bgPr>
    </p:bg>
    <p:spTree>
      <p:nvGrpSpPr>
        <p:cNvPr id="1" name=""/>
        <p:cNvGrpSpPr/>
        <p:nvPr/>
      </p:nvGrpSpPr>
      <p:grpSpPr>
        <a:xfrm>
          <a:off x="0" y="0"/>
          <a:ext cx="0" cy="0"/>
          <a:chOff x="0" y="0"/>
          <a:chExt cx="0" cy="0"/>
        </a:xfrm>
      </p:grpSpPr>
      <p:grpSp>
        <p:nvGrpSpPr>
          <p:cNvPr id="2" name="Group 2"/>
          <p:cNvGrpSpPr/>
          <p:nvPr/>
        </p:nvGrpSpPr>
        <p:grpSpPr>
          <a:xfrm>
            <a:off x="9296400" y="0"/>
            <a:ext cx="8991600" cy="6038850"/>
            <a:chOff x="0" y="0"/>
            <a:chExt cx="1008163" cy="677092"/>
          </a:xfrm>
        </p:grpSpPr>
        <p:sp>
          <p:nvSpPr>
            <p:cNvPr id="3" name="Freeform 3"/>
            <p:cNvSpPr/>
            <p:nvPr/>
          </p:nvSpPr>
          <p:spPr>
            <a:xfrm>
              <a:off x="0" y="0"/>
              <a:ext cx="1008163" cy="677092"/>
            </a:xfrm>
            <a:custGeom>
              <a:avLst/>
              <a:gdLst/>
              <a:ahLst/>
              <a:cxnLst/>
              <a:rect l="l" t="t" r="r" b="b"/>
              <a:pathLst>
                <a:path w="1008163" h="677092">
                  <a:moveTo>
                    <a:pt x="0" y="0"/>
                  </a:moveTo>
                  <a:lnTo>
                    <a:pt x="1008163" y="0"/>
                  </a:lnTo>
                  <a:lnTo>
                    <a:pt x="1008163" y="677092"/>
                  </a:lnTo>
                  <a:lnTo>
                    <a:pt x="0" y="677092"/>
                  </a:lnTo>
                  <a:close/>
                </a:path>
              </a:pathLst>
            </a:custGeom>
            <a:blipFill>
              <a:blip r:embed="rId2"/>
              <a:stretch>
                <a:fillRect l="-307" r="-307"/>
              </a:stretch>
            </a:blipFill>
          </p:spPr>
          <p:txBody>
            <a:bodyPr/>
            <a:lstStyle/>
            <a:p>
              <a:endParaRPr lang="en-US" dirty="0"/>
            </a:p>
          </p:txBody>
        </p:sp>
      </p:grpSp>
      <p:sp>
        <p:nvSpPr>
          <p:cNvPr id="8" name="TextBox 8"/>
          <p:cNvSpPr txBox="1"/>
          <p:nvPr/>
        </p:nvSpPr>
        <p:spPr>
          <a:xfrm>
            <a:off x="10564588" y="7962900"/>
            <a:ext cx="7962900" cy="795089"/>
          </a:xfrm>
          <a:prstGeom prst="rect">
            <a:avLst/>
          </a:prstGeom>
        </p:spPr>
        <p:txBody>
          <a:bodyPr lIns="0" tIns="0" rIns="0" bIns="0" rtlCol="0" anchor="t">
            <a:spAutoFit/>
          </a:bodyPr>
          <a:lstStyle/>
          <a:p>
            <a:pPr marL="0" lvl="0" indent="0" algn="l">
              <a:lnSpc>
                <a:spcPts val="3079"/>
              </a:lnSpc>
              <a:spcBef>
                <a:spcPct val="0"/>
              </a:spcBef>
            </a:pPr>
            <a:r>
              <a:rPr lang="en-US" sz="2800" b="1" dirty="0">
                <a:solidFill>
                  <a:srgbClr val="F8F8F2"/>
                </a:solidFill>
                <a:latin typeface="Inclusive Sans"/>
                <a:ea typeface="Inclusive Sans"/>
                <a:cs typeface="Inclusive Sans"/>
                <a:sym typeface="Inclusive Sans"/>
              </a:rPr>
              <a:t>SUNDEEP RAVICHANDER</a:t>
            </a:r>
          </a:p>
          <a:p>
            <a:pPr marL="0" lvl="0" indent="0" algn="l">
              <a:lnSpc>
                <a:spcPts val="3079"/>
              </a:lnSpc>
              <a:spcBef>
                <a:spcPct val="0"/>
              </a:spcBef>
            </a:pPr>
            <a:r>
              <a:rPr lang="en-US" sz="2800" b="1" u="none" strike="noStrike" dirty="0">
                <a:solidFill>
                  <a:srgbClr val="F8F8F2"/>
                </a:solidFill>
                <a:latin typeface="Inclusive Sans"/>
                <a:ea typeface="Inclusive Sans"/>
                <a:cs typeface="Inclusive Sans"/>
                <a:sym typeface="Inclusive Sans"/>
              </a:rPr>
              <a:t>OIM7502</a:t>
            </a:r>
          </a:p>
        </p:txBody>
      </p:sp>
      <p:sp>
        <p:nvSpPr>
          <p:cNvPr id="9" name="TextBox 9"/>
          <p:cNvSpPr txBox="1"/>
          <p:nvPr/>
        </p:nvSpPr>
        <p:spPr>
          <a:xfrm>
            <a:off x="666750" y="857250"/>
            <a:ext cx="8324850" cy="1413849"/>
          </a:xfrm>
          <a:prstGeom prst="rect">
            <a:avLst/>
          </a:prstGeom>
        </p:spPr>
        <p:txBody>
          <a:bodyPr lIns="0" tIns="0" rIns="0" bIns="0" rtlCol="0" anchor="t">
            <a:spAutoFit/>
          </a:bodyPr>
          <a:lstStyle/>
          <a:p>
            <a:pPr marL="0" lvl="0" indent="0" algn="l">
              <a:lnSpc>
                <a:spcPts val="10500"/>
              </a:lnSpc>
            </a:pPr>
            <a:r>
              <a:rPr lang="en-US" sz="10500" dirty="0">
                <a:solidFill>
                  <a:srgbClr val="F8F8F2"/>
                </a:solidFill>
                <a:latin typeface="Lovelace Text"/>
                <a:ea typeface="Lovelace Text"/>
                <a:cs typeface="Lovelace Text"/>
                <a:sym typeface="Lovelace Text"/>
              </a:rPr>
              <a:t>GG Plot</a:t>
            </a:r>
          </a:p>
        </p:txBody>
      </p:sp>
      <p:pic>
        <p:nvPicPr>
          <p:cNvPr id="10" name="Picture 2">
            <a:extLst>
              <a:ext uri="{FF2B5EF4-FFF2-40B4-BE49-F238E27FC236}">
                <a16:creationId xmlns:a16="http://schemas.microsoft.com/office/drawing/2014/main" id="{CD151D33-D1A4-F7BE-02AB-F032596733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3460" y="5372100"/>
            <a:ext cx="6682740" cy="445516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292D3E"/>
        </a:solidFill>
        <a:effectLst/>
      </p:bgPr>
    </p:bg>
    <p:spTree>
      <p:nvGrpSpPr>
        <p:cNvPr id="1" name=""/>
        <p:cNvGrpSpPr/>
        <p:nvPr/>
      </p:nvGrpSpPr>
      <p:grpSpPr>
        <a:xfrm>
          <a:off x="0" y="0"/>
          <a:ext cx="0" cy="0"/>
          <a:chOff x="0" y="0"/>
          <a:chExt cx="0" cy="0"/>
        </a:xfrm>
      </p:grpSpPr>
      <p:grpSp>
        <p:nvGrpSpPr>
          <p:cNvPr id="2" name="Group 2"/>
          <p:cNvGrpSpPr/>
          <p:nvPr/>
        </p:nvGrpSpPr>
        <p:grpSpPr>
          <a:xfrm>
            <a:off x="7858125" y="10886"/>
            <a:ext cx="10429875" cy="10287000"/>
            <a:chOff x="0" y="0"/>
            <a:chExt cx="2746963" cy="2709333"/>
          </a:xfrm>
        </p:grpSpPr>
        <p:sp>
          <p:nvSpPr>
            <p:cNvPr id="3" name="Freeform 3"/>
            <p:cNvSpPr/>
            <p:nvPr/>
          </p:nvSpPr>
          <p:spPr>
            <a:xfrm>
              <a:off x="0" y="0"/>
              <a:ext cx="2746963" cy="2709333"/>
            </a:xfrm>
            <a:custGeom>
              <a:avLst/>
              <a:gdLst/>
              <a:ahLst/>
              <a:cxnLst/>
              <a:rect l="l" t="t" r="r" b="b"/>
              <a:pathLst>
                <a:path w="2746963" h="2709333">
                  <a:moveTo>
                    <a:pt x="0" y="0"/>
                  </a:moveTo>
                  <a:lnTo>
                    <a:pt x="2746963" y="0"/>
                  </a:lnTo>
                  <a:lnTo>
                    <a:pt x="2746963" y="2709333"/>
                  </a:lnTo>
                  <a:lnTo>
                    <a:pt x="0" y="2709333"/>
                  </a:lnTo>
                  <a:close/>
                </a:path>
              </a:pathLst>
            </a:custGeom>
            <a:solidFill>
              <a:srgbClr val="F8F8F2"/>
            </a:solidFill>
          </p:spPr>
          <p:txBody>
            <a:bodyPr/>
            <a:lstStyle/>
            <a:p>
              <a:endParaRPr lang="en-US" dirty="0"/>
            </a:p>
          </p:txBody>
        </p:sp>
        <p:sp>
          <p:nvSpPr>
            <p:cNvPr id="4" name="TextBox 4"/>
            <p:cNvSpPr txBox="1"/>
            <p:nvPr/>
          </p:nvSpPr>
          <p:spPr>
            <a:xfrm>
              <a:off x="0" y="-57150"/>
              <a:ext cx="2746963" cy="2766483"/>
            </a:xfrm>
            <a:prstGeom prst="rect">
              <a:avLst/>
            </a:prstGeom>
          </p:spPr>
          <p:txBody>
            <a:bodyPr lIns="50800" tIns="50800" rIns="50800" bIns="50800" rtlCol="0" anchor="ctr"/>
            <a:lstStyle/>
            <a:p>
              <a:pPr marL="0" lvl="0" indent="0" algn="ctr">
                <a:lnSpc>
                  <a:spcPts val="3640"/>
                </a:lnSpc>
              </a:pPr>
              <a:endParaRPr dirty="0"/>
            </a:p>
          </p:txBody>
        </p:sp>
      </p:grpSp>
      <p:sp>
        <p:nvSpPr>
          <p:cNvPr id="7" name="TextBox 7"/>
          <p:cNvSpPr txBox="1"/>
          <p:nvPr/>
        </p:nvSpPr>
        <p:spPr>
          <a:xfrm>
            <a:off x="666750" y="819150"/>
            <a:ext cx="6886575" cy="1077218"/>
          </a:xfrm>
          <a:prstGeom prst="rect">
            <a:avLst/>
          </a:prstGeom>
        </p:spPr>
        <p:txBody>
          <a:bodyPr lIns="0" tIns="0" rIns="0" bIns="0" rtlCol="0" anchor="t">
            <a:spAutoFit/>
          </a:bodyPr>
          <a:lstStyle/>
          <a:p>
            <a:pPr marL="0" lvl="0" indent="0" algn="l">
              <a:lnSpc>
                <a:spcPts val="8400"/>
              </a:lnSpc>
            </a:pPr>
            <a:r>
              <a:rPr lang="en-US" sz="6600" dirty="0">
                <a:solidFill>
                  <a:srgbClr val="F8F8F2"/>
                </a:solidFill>
                <a:latin typeface="Lovelace Text"/>
                <a:ea typeface="Lovelace Text"/>
                <a:cs typeface="Lovelace Text"/>
                <a:sym typeface="Lovelace Text"/>
              </a:rPr>
              <a:t>What is GGplot</a:t>
            </a:r>
          </a:p>
        </p:txBody>
      </p:sp>
      <p:grpSp>
        <p:nvGrpSpPr>
          <p:cNvPr id="8" name="Group 8"/>
          <p:cNvGrpSpPr/>
          <p:nvPr/>
        </p:nvGrpSpPr>
        <p:grpSpPr>
          <a:xfrm>
            <a:off x="304800" y="2129456"/>
            <a:ext cx="7070919" cy="5310804"/>
            <a:chOff x="465266" y="305804"/>
            <a:chExt cx="7264400" cy="4836549"/>
          </a:xfrm>
        </p:grpSpPr>
        <p:sp>
          <p:nvSpPr>
            <p:cNvPr id="9" name="TextBox 9"/>
            <p:cNvSpPr txBox="1"/>
            <p:nvPr/>
          </p:nvSpPr>
          <p:spPr>
            <a:xfrm>
              <a:off x="465267" y="2634322"/>
              <a:ext cx="7264399" cy="2508031"/>
            </a:xfrm>
            <a:prstGeom prst="rect">
              <a:avLst/>
            </a:prstGeom>
          </p:spPr>
          <p:txBody>
            <a:bodyPr lIns="0" tIns="0" rIns="0" bIns="0" rtlCol="0" anchor="t">
              <a:spAutoFit/>
            </a:bodyPr>
            <a:lstStyle/>
            <a:p>
              <a:pPr>
                <a:lnSpc>
                  <a:spcPts val="3079"/>
                </a:lnSpc>
              </a:pPr>
              <a:r>
                <a:rPr lang="en-US" sz="2199" dirty="0">
                  <a:solidFill>
                    <a:srgbClr val="F8F8F2"/>
                  </a:solidFill>
                  <a:latin typeface="Inclusive Sans"/>
                  <a:cs typeface="Inclusive Sans"/>
                </a:rPr>
                <a:t>Plotnine is a Python data visualization library built on the principles of the Grammar of Graphics, the same philosophy that powers ggplot2 in R. It allows users to create complex plots by layering components such as data, aesthetics and geometric objects.</a:t>
              </a:r>
            </a:p>
            <a:p>
              <a:pPr lvl="0">
                <a:lnSpc>
                  <a:spcPts val="3079"/>
                </a:lnSpc>
              </a:pPr>
              <a:endParaRPr lang="en-US" sz="2199" dirty="0">
                <a:solidFill>
                  <a:srgbClr val="F8F8F2"/>
                </a:solidFill>
                <a:latin typeface="Inclusive Sans"/>
                <a:cs typeface="Inclusive Sans"/>
                <a:sym typeface="Inclusive Sans"/>
              </a:endParaRPr>
            </a:p>
            <a:p>
              <a:pPr lvl="0">
                <a:lnSpc>
                  <a:spcPts val="3079"/>
                </a:lnSpc>
              </a:pPr>
              <a:endParaRPr lang="en-US" sz="2199" dirty="0">
                <a:solidFill>
                  <a:srgbClr val="F8F8F2"/>
                </a:solidFill>
                <a:latin typeface="Inclusive Sans"/>
                <a:cs typeface="Inclusive Sans"/>
                <a:sym typeface="Inclusive Sans"/>
              </a:endParaRPr>
            </a:p>
          </p:txBody>
        </p:sp>
        <p:sp>
          <p:nvSpPr>
            <p:cNvPr id="10" name="TextBox 10"/>
            <p:cNvSpPr txBox="1"/>
            <p:nvPr/>
          </p:nvSpPr>
          <p:spPr>
            <a:xfrm>
              <a:off x="465266" y="305804"/>
              <a:ext cx="7264400" cy="1783943"/>
            </a:xfrm>
            <a:prstGeom prst="rect">
              <a:avLst/>
            </a:prstGeom>
          </p:spPr>
          <p:txBody>
            <a:bodyPr lIns="0" tIns="0" rIns="0" bIns="0" rtlCol="0" anchor="t">
              <a:spAutoFit/>
            </a:bodyPr>
            <a:lstStyle/>
            <a:p>
              <a:pPr>
                <a:lnSpc>
                  <a:spcPts val="3079"/>
                </a:lnSpc>
              </a:pPr>
              <a:endParaRPr lang="en-US" sz="2199" dirty="0">
                <a:solidFill>
                  <a:srgbClr val="F8F8F2"/>
                </a:solidFill>
                <a:latin typeface="Inclusive Sans"/>
                <a:cs typeface="Inclusive Sans"/>
              </a:endParaRPr>
            </a:p>
            <a:p>
              <a:pPr>
                <a:lnSpc>
                  <a:spcPts val="3079"/>
                </a:lnSpc>
              </a:pPr>
              <a:r>
                <a:rPr lang="en-US" sz="2199" dirty="0">
                  <a:solidFill>
                    <a:srgbClr val="F8F8F2"/>
                  </a:solidFill>
                  <a:latin typeface="Inclusive Sans"/>
                  <a:cs typeface="Inclusive Sans"/>
                </a:rPr>
                <a:t>ggplot is a Python library that provides an interface for creating beautiful and informative visualizations. It is based on the grammar of graphics, a powerful framework for describing and building visualizations.</a:t>
              </a:r>
              <a:endParaRPr lang="en-US" sz="2199" dirty="0">
                <a:solidFill>
                  <a:srgbClr val="F8F8F2"/>
                </a:solidFill>
                <a:latin typeface="Inclusive Sans"/>
                <a:cs typeface="Inclusive Sans"/>
                <a:sym typeface="Inclusive Sans"/>
              </a:endParaRPr>
            </a:p>
          </p:txBody>
        </p:sp>
      </p:grpSp>
      <p:pic>
        <p:nvPicPr>
          <p:cNvPr id="13" name="Picture 2">
            <a:extLst>
              <a:ext uri="{FF2B5EF4-FFF2-40B4-BE49-F238E27FC236}">
                <a16:creationId xmlns:a16="http://schemas.microsoft.com/office/drawing/2014/main" id="{9BF9130D-B6C5-B1CE-03F9-1422E042CC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69329" y="2129456"/>
            <a:ext cx="10121766" cy="674784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E1E2F"/>
        </a:solidFill>
        <a:effectLst/>
      </p:bgPr>
    </p:bg>
    <p:spTree>
      <p:nvGrpSpPr>
        <p:cNvPr id="1" name=""/>
        <p:cNvGrpSpPr/>
        <p:nvPr/>
      </p:nvGrpSpPr>
      <p:grpSpPr>
        <a:xfrm>
          <a:off x="0" y="0"/>
          <a:ext cx="0" cy="0"/>
          <a:chOff x="0" y="0"/>
          <a:chExt cx="0" cy="0"/>
        </a:xfrm>
      </p:grpSpPr>
      <p:grpSp>
        <p:nvGrpSpPr>
          <p:cNvPr id="2" name="Group 2"/>
          <p:cNvGrpSpPr/>
          <p:nvPr/>
        </p:nvGrpSpPr>
        <p:grpSpPr>
          <a:xfrm>
            <a:off x="533399" y="2095500"/>
            <a:ext cx="12896850" cy="7462206"/>
            <a:chOff x="-1" y="-9525"/>
            <a:chExt cx="9182101" cy="8568371"/>
          </a:xfrm>
        </p:grpSpPr>
        <p:sp>
          <p:nvSpPr>
            <p:cNvPr id="3" name="TextBox 3"/>
            <p:cNvSpPr txBox="1"/>
            <p:nvPr/>
          </p:nvSpPr>
          <p:spPr>
            <a:xfrm>
              <a:off x="-1" y="695694"/>
              <a:ext cx="9182100" cy="7863152"/>
            </a:xfrm>
            <a:prstGeom prst="rect">
              <a:avLst/>
            </a:prstGeom>
          </p:spPr>
          <p:txBody>
            <a:bodyPr lIns="0" tIns="0" rIns="0" bIns="0" rtlCol="0" anchor="t">
              <a:spAutoFit/>
            </a:bodyPr>
            <a:lstStyle/>
            <a:p>
              <a:pPr marL="457200" indent="-457200">
                <a:lnSpc>
                  <a:spcPct val="150000"/>
                </a:lnSpc>
                <a:buFont typeface="Arial" panose="020B0604020202020204" pitchFamily="34" charset="0"/>
                <a:buChar char="•"/>
              </a:pPr>
              <a:r>
                <a:rPr lang="en-US" sz="3000" spc="-60" dirty="0">
                  <a:solidFill>
                    <a:srgbClr val="F8F8F2"/>
                  </a:solidFill>
                  <a:latin typeface="Inclusive Sans"/>
                  <a:cs typeface="Inclusive Sans"/>
                </a:rPr>
                <a:t> Introduced by Leland Wilkinson.</a:t>
              </a:r>
            </a:p>
            <a:p>
              <a:pPr marL="457200" indent="-457200">
                <a:lnSpc>
                  <a:spcPct val="150000"/>
                </a:lnSpc>
                <a:buFont typeface="Arial" panose="020B0604020202020204" pitchFamily="34" charset="0"/>
                <a:buChar char="•"/>
              </a:pPr>
              <a:r>
                <a:rPr lang="en-US" sz="3000" spc="-60" dirty="0">
                  <a:solidFill>
                    <a:srgbClr val="F8F8F2"/>
                  </a:solidFill>
                  <a:latin typeface="Inclusive Sans"/>
                  <a:cs typeface="Inclusive Sans"/>
                </a:rPr>
                <a:t> A visualization framework that defines how graphics represent data.</a:t>
              </a:r>
            </a:p>
            <a:p>
              <a:pPr marL="457200" indent="-457200">
                <a:lnSpc>
                  <a:spcPct val="150000"/>
                </a:lnSpc>
                <a:buFont typeface="Arial" panose="020B0604020202020204" pitchFamily="34" charset="0"/>
                <a:buChar char="•"/>
              </a:pPr>
              <a:r>
                <a:rPr lang="en-US" sz="3000" spc="-60" dirty="0">
                  <a:solidFill>
                    <a:srgbClr val="F8F8F2"/>
                  </a:solidFill>
                  <a:latin typeface="Inclusive Sans"/>
                  <a:cs typeface="Inclusive Sans"/>
                </a:rPr>
                <a:t> Every visualization can be broken into seven layers:</a:t>
              </a:r>
            </a:p>
            <a:p>
              <a:pPr>
                <a:lnSpc>
                  <a:spcPct val="150000"/>
                </a:lnSpc>
              </a:pPr>
              <a:r>
                <a:rPr lang="en-US" sz="3000" spc="-60" dirty="0">
                  <a:solidFill>
                    <a:srgbClr val="F8F8F2"/>
                  </a:solidFill>
                  <a:latin typeface="Inclusive Sans"/>
                  <a:cs typeface="Inclusive Sans"/>
                </a:rPr>
                <a:t> 1. Data</a:t>
              </a:r>
            </a:p>
            <a:p>
              <a:pPr>
                <a:lnSpc>
                  <a:spcPct val="150000"/>
                </a:lnSpc>
              </a:pPr>
              <a:r>
                <a:rPr lang="en-US" sz="3000" spc="-60" dirty="0">
                  <a:solidFill>
                    <a:srgbClr val="F8F8F2"/>
                  </a:solidFill>
                  <a:latin typeface="Inclusive Sans"/>
                  <a:cs typeface="Inclusive Sans"/>
                </a:rPr>
                <a:t>2. Aesthetics</a:t>
              </a:r>
            </a:p>
            <a:p>
              <a:pPr>
                <a:lnSpc>
                  <a:spcPct val="150000"/>
                </a:lnSpc>
              </a:pPr>
              <a:r>
                <a:rPr lang="en-US" sz="3000" spc="-60" dirty="0">
                  <a:solidFill>
                    <a:srgbClr val="F8F8F2"/>
                  </a:solidFill>
                  <a:latin typeface="Inclusive Sans"/>
                  <a:cs typeface="Inclusive Sans"/>
                </a:rPr>
                <a:t>3. Geometric Objects</a:t>
              </a:r>
            </a:p>
            <a:p>
              <a:pPr>
                <a:lnSpc>
                  <a:spcPct val="150000"/>
                </a:lnSpc>
              </a:pPr>
              <a:r>
                <a:rPr lang="en-US" sz="3000" spc="-60" dirty="0">
                  <a:solidFill>
                    <a:srgbClr val="F8F8F2"/>
                  </a:solidFill>
                  <a:latin typeface="Inclusive Sans"/>
                  <a:cs typeface="Inclusive Sans"/>
                </a:rPr>
                <a:t>4. Statistical Transformations</a:t>
              </a:r>
            </a:p>
            <a:p>
              <a:pPr>
                <a:lnSpc>
                  <a:spcPct val="150000"/>
                </a:lnSpc>
              </a:pPr>
              <a:r>
                <a:rPr lang="en-US" sz="3000" spc="-60" dirty="0">
                  <a:solidFill>
                    <a:srgbClr val="F8F8F2"/>
                  </a:solidFill>
                  <a:latin typeface="Inclusive Sans"/>
                  <a:cs typeface="Inclusive Sans"/>
                </a:rPr>
                <a:t>5. Scales</a:t>
              </a:r>
            </a:p>
            <a:p>
              <a:pPr>
                <a:lnSpc>
                  <a:spcPct val="150000"/>
                </a:lnSpc>
              </a:pPr>
              <a:r>
                <a:rPr lang="en-US" sz="3000" spc="-60" dirty="0">
                  <a:solidFill>
                    <a:srgbClr val="F8F8F2"/>
                  </a:solidFill>
                  <a:latin typeface="Inclusive Sans"/>
                  <a:cs typeface="Inclusive Sans"/>
                </a:rPr>
                <a:t>6. Coordinate Systems</a:t>
              </a:r>
            </a:p>
            <a:p>
              <a:pPr>
                <a:lnSpc>
                  <a:spcPct val="150000"/>
                </a:lnSpc>
              </a:pPr>
              <a:r>
                <a:rPr lang="en-US" sz="3000" spc="-60" dirty="0">
                  <a:solidFill>
                    <a:srgbClr val="F8F8F2"/>
                  </a:solidFill>
                  <a:latin typeface="Inclusive Sans"/>
                  <a:cs typeface="Inclusive Sans"/>
                </a:rPr>
                <a:t>7. Facets</a:t>
              </a:r>
            </a:p>
          </p:txBody>
        </p:sp>
        <p:sp>
          <p:nvSpPr>
            <p:cNvPr id="4" name="TextBox 4"/>
            <p:cNvSpPr txBox="1"/>
            <p:nvPr/>
          </p:nvSpPr>
          <p:spPr>
            <a:xfrm>
              <a:off x="0" y="-9525"/>
              <a:ext cx="9182100" cy="619125"/>
            </a:xfrm>
            <a:prstGeom prst="rect">
              <a:avLst/>
            </a:prstGeom>
          </p:spPr>
          <p:txBody>
            <a:bodyPr lIns="0" tIns="0" rIns="0" bIns="0" rtlCol="0" anchor="t">
              <a:spAutoFit/>
            </a:bodyPr>
            <a:lstStyle/>
            <a:p>
              <a:pPr marL="0" lvl="0" indent="0" algn="l">
                <a:lnSpc>
                  <a:spcPts val="3600"/>
                </a:lnSpc>
              </a:pPr>
              <a:r>
                <a:rPr lang="en-US" sz="3000" u="none" strike="noStrike" spc="-60" dirty="0">
                  <a:solidFill>
                    <a:srgbClr val="F8F8F2"/>
                  </a:solidFill>
                  <a:latin typeface="Inclusive Sans"/>
                  <a:ea typeface="Inclusive Sans"/>
                  <a:cs typeface="Inclusive Sans"/>
                  <a:sym typeface="Inclusive Sans"/>
                </a:rPr>
                <a:t>Purpose and Functionality</a:t>
              </a:r>
            </a:p>
          </p:txBody>
        </p:sp>
      </p:grpSp>
      <p:sp>
        <p:nvSpPr>
          <p:cNvPr id="16" name="TextBox 16"/>
          <p:cNvSpPr txBox="1"/>
          <p:nvPr/>
        </p:nvSpPr>
        <p:spPr>
          <a:xfrm>
            <a:off x="685800" y="551964"/>
            <a:ext cx="12896850" cy="1008866"/>
          </a:xfrm>
          <a:prstGeom prst="rect">
            <a:avLst/>
          </a:prstGeom>
        </p:spPr>
        <p:txBody>
          <a:bodyPr wrap="square" lIns="0" tIns="0" rIns="0" bIns="0" rtlCol="0" anchor="t">
            <a:spAutoFit/>
          </a:bodyPr>
          <a:lstStyle/>
          <a:p>
            <a:pPr marL="0" lvl="0" indent="0" algn="l">
              <a:lnSpc>
                <a:spcPts val="7474"/>
              </a:lnSpc>
            </a:pPr>
            <a:r>
              <a:rPr lang="en-US" sz="7200" dirty="0">
                <a:solidFill>
                  <a:srgbClr val="50FA7B"/>
                </a:solidFill>
                <a:latin typeface="Lovelace Text"/>
                <a:ea typeface="Lovelace Text"/>
                <a:cs typeface="Lovelace Text"/>
                <a:sym typeface="Lovelace Text"/>
              </a:rPr>
              <a:t>Grammar of Graphics</a:t>
            </a:r>
          </a:p>
        </p:txBody>
      </p:sp>
      <p:pic>
        <p:nvPicPr>
          <p:cNvPr id="1030" name="Picture 6" descr="Graphics-components">
            <a:extLst>
              <a:ext uri="{FF2B5EF4-FFF2-40B4-BE49-F238E27FC236}">
                <a16:creationId xmlns:a16="http://schemas.microsoft.com/office/drawing/2014/main" id="{D7AFBDA3-29F8-0DFB-E9B9-3041E4E39B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64649" y="5212560"/>
            <a:ext cx="8331200" cy="41656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292D3E"/>
        </a:solidFill>
        <a:effectLst/>
      </p:bgPr>
    </p:bg>
    <p:spTree>
      <p:nvGrpSpPr>
        <p:cNvPr id="1" name=""/>
        <p:cNvGrpSpPr/>
        <p:nvPr/>
      </p:nvGrpSpPr>
      <p:grpSpPr>
        <a:xfrm>
          <a:off x="0" y="0"/>
          <a:ext cx="0" cy="0"/>
          <a:chOff x="0" y="0"/>
          <a:chExt cx="0" cy="0"/>
        </a:xfrm>
      </p:grpSpPr>
      <p:grpSp>
        <p:nvGrpSpPr>
          <p:cNvPr id="2" name="Group 2"/>
          <p:cNvGrpSpPr/>
          <p:nvPr/>
        </p:nvGrpSpPr>
        <p:grpSpPr>
          <a:xfrm>
            <a:off x="762000" y="2933700"/>
            <a:ext cx="8610600" cy="6109411"/>
            <a:chOff x="0" y="-9525"/>
            <a:chExt cx="9182100" cy="8145882"/>
          </a:xfrm>
        </p:grpSpPr>
        <p:sp>
          <p:nvSpPr>
            <p:cNvPr id="3" name="TextBox 3"/>
            <p:cNvSpPr txBox="1"/>
            <p:nvPr/>
          </p:nvSpPr>
          <p:spPr>
            <a:xfrm>
              <a:off x="0" y="852311"/>
              <a:ext cx="9182100" cy="7284046"/>
            </a:xfrm>
            <a:prstGeom prst="rect">
              <a:avLst/>
            </a:prstGeom>
          </p:spPr>
          <p:txBody>
            <a:bodyPr lIns="0" tIns="0" rIns="0" bIns="0" rtlCol="0" anchor="t">
              <a:spAutoFit/>
            </a:bodyPr>
            <a:lstStyle/>
            <a:p>
              <a:pPr defTabSz="1371600">
                <a:lnSpc>
                  <a:spcPct val="150000"/>
                </a:lnSpc>
                <a:buFont typeface="Arial" panose="020B0604020202020204" pitchFamily="34" charset="0"/>
                <a:buChar char="•"/>
              </a:pPr>
              <a:r>
                <a:rPr lang="en-US" sz="3000" spc="-60" dirty="0">
                  <a:solidFill>
                    <a:srgbClr val="F8F8F2"/>
                  </a:solidFill>
                  <a:latin typeface="Inclusive Sans"/>
                  <a:cs typeface="Inclusive Sans"/>
                </a:rPr>
                <a:t> The dataset is the foundation of the visualization.</a:t>
              </a:r>
            </a:p>
            <a:p>
              <a:pPr defTabSz="1371600">
                <a:lnSpc>
                  <a:spcPct val="150000"/>
                </a:lnSpc>
                <a:buFont typeface="Arial" panose="020B0604020202020204" pitchFamily="34" charset="0"/>
                <a:buChar char="•"/>
              </a:pPr>
              <a:r>
                <a:rPr lang="en-US" sz="3000" spc="-60" dirty="0">
                  <a:solidFill>
                    <a:srgbClr val="F8F8F2"/>
                  </a:solidFill>
                  <a:latin typeface="Inclusive Sans"/>
                  <a:cs typeface="Inclusive Sans"/>
                </a:rPr>
                <a:t> In Plotnine, data is passed inside the ggplot() function.</a:t>
              </a:r>
            </a:p>
            <a:p>
              <a:pPr defTabSz="1371600">
                <a:lnSpc>
                  <a:spcPct val="150000"/>
                </a:lnSpc>
                <a:buFont typeface="Arial" panose="020B0604020202020204" pitchFamily="34" charset="0"/>
                <a:buChar char="•"/>
              </a:pPr>
              <a:r>
                <a:rPr lang="en-US" sz="3000" spc="-60" dirty="0">
                  <a:solidFill>
                    <a:srgbClr val="F8F8F2"/>
                  </a:solidFill>
                  <a:latin typeface="Inclusive Sans"/>
                  <a:cs typeface="Inclusive Sans"/>
                </a:rPr>
                <a:t>Example:</a:t>
              </a:r>
            </a:p>
            <a:p>
              <a:pPr defTabSz="1371600">
                <a:lnSpc>
                  <a:spcPct val="150000"/>
                </a:lnSpc>
                <a:buFont typeface="Arial" panose="020B0604020202020204" pitchFamily="34" charset="0"/>
                <a:buChar char="•"/>
              </a:pPr>
              <a:r>
                <a:rPr lang="en-US" sz="3000" spc="-60" dirty="0">
                  <a:solidFill>
                    <a:srgbClr val="F8F8F2"/>
                  </a:solidFill>
                  <a:latin typeface="Inclusive Sans"/>
                  <a:cs typeface="Inclusive Sans"/>
                </a:rPr>
                <a:t>  df = pd.read_csv('BostonHousing.csv')</a:t>
              </a:r>
            </a:p>
            <a:p>
              <a:pPr defTabSz="1371600">
                <a:lnSpc>
                  <a:spcPct val="150000"/>
                </a:lnSpc>
                <a:buFont typeface="Arial" panose="020B0604020202020204" pitchFamily="34" charset="0"/>
                <a:buChar char="•"/>
              </a:pPr>
              <a:r>
                <a:rPr lang="en-US" sz="3000" spc="-60" dirty="0">
                  <a:solidFill>
                    <a:srgbClr val="F8F8F2"/>
                  </a:solidFill>
                  <a:latin typeface="Inclusive Sans"/>
                  <a:cs typeface="Inclusive Sans"/>
                </a:rPr>
                <a:t>ggplot(df)</a:t>
              </a:r>
            </a:p>
            <a:p>
              <a:pPr defTabSz="1371600">
                <a:lnSpc>
                  <a:spcPct val="150000"/>
                </a:lnSpc>
                <a:buFont typeface="Arial" panose="020B0604020202020204" pitchFamily="34" charset="0"/>
                <a:buChar char="•"/>
              </a:pPr>
              <a:r>
                <a:rPr lang="en-US" sz="3000" spc="-60" dirty="0">
                  <a:solidFill>
                    <a:srgbClr val="F8F8F2"/>
                  </a:solidFill>
                  <a:latin typeface="Inclusive Sans"/>
                  <a:cs typeface="Inclusive Sans"/>
                </a:rPr>
                <a:t>Defines the source but no visual output yet.</a:t>
              </a:r>
            </a:p>
          </p:txBody>
        </p:sp>
        <p:sp>
          <p:nvSpPr>
            <p:cNvPr id="4" name="TextBox 4"/>
            <p:cNvSpPr txBox="1"/>
            <p:nvPr/>
          </p:nvSpPr>
          <p:spPr>
            <a:xfrm>
              <a:off x="0" y="-9525"/>
              <a:ext cx="9182100" cy="619125"/>
            </a:xfrm>
            <a:prstGeom prst="rect">
              <a:avLst/>
            </a:prstGeom>
          </p:spPr>
          <p:txBody>
            <a:bodyPr lIns="0" tIns="0" rIns="0" bIns="0" rtlCol="0" anchor="t">
              <a:spAutoFit/>
            </a:bodyPr>
            <a:lstStyle/>
            <a:p>
              <a:pPr marL="0" lvl="0" indent="0" algn="l">
                <a:lnSpc>
                  <a:spcPts val="3600"/>
                </a:lnSpc>
              </a:pPr>
              <a:r>
                <a:rPr lang="en-US" sz="3000" u="none" strike="noStrike" spc="-60" dirty="0">
                  <a:solidFill>
                    <a:srgbClr val="F8F8F2"/>
                  </a:solidFill>
                  <a:latin typeface="Inclusive Sans"/>
                  <a:ea typeface="Inclusive Sans"/>
                  <a:cs typeface="Inclusive Sans"/>
                  <a:sym typeface="Inclusive Sans"/>
                </a:rPr>
                <a:t>Purpose and Functionality</a:t>
              </a:r>
            </a:p>
          </p:txBody>
        </p:sp>
      </p:grpSp>
      <p:sp>
        <p:nvSpPr>
          <p:cNvPr id="16" name="TextBox 16"/>
          <p:cNvSpPr txBox="1"/>
          <p:nvPr/>
        </p:nvSpPr>
        <p:spPr>
          <a:xfrm>
            <a:off x="666750" y="800100"/>
            <a:ext cx="8324850" cy="1008866"/>
          </a:xfrm>
          <a:prstGeom prst="rect">
            <a:avLst/>
          </a:prstGeom>
        </p:spPr>
        <p:txBody>
          <a:bodyPr lIns="0" tIns="0" rIns="0" bIns="0" rtlCol="0" anchor="t">
            <a:spAutoFit/>
          </a:bodyPr>
          <a:lstStyle/>
          <a:p>
            <a:pPr marL="0" lvl="0" indent="0" algn="l">
              <a:lnSpc>
                <a:spcPts val="7474"/>
              </a:lnSpc>
            </a:pPr>
            <a:r>
              <a:rPr lang="en-US" sz="7474" dirty="0">
                <a:solidFill>
                  <a:srgbClr val="50FA7B"/>
                </a:solidFill>
                <a:latin typeface="Lovelace Text"/>
                <a:ea typeface="Lovelace Text"/>
                <a:cs typeface="Lovelace Text"/>
                <a:sym typeface="Lovelace Text"/>
              </a:rPr>
              <a:t>Layer 1: Data</a:t>
            </a:r>
          </a:p>
        </p:txBody>
      </p:sp>
      <p:pic>
        <p:nvPicPr>
          <p:cNvPr id="17" name="Picture 16">
            <a:extLst>
              <a:ext uri="{FF2B5EF4-FFF2-40B4-BE49-F238E27FC236}">
                <a16:creationId xmlns:a16="http://schemas.microsoft.com/office/drawing/2014/main" id="{DCCF6A10-1605-89FA-5D52-F87E09C3461F}"/>
              </a:ext>
            </a:extLst>
          </p:cNvPr>
          <p:cNvPicPr>
            <a:picLocks noChangeAspect="1"/>
          </p:cNvPicPr>
          <p:nvPr/>
        </p:nvPicPr>
        <p:blipFill>
          <a:blip r:embed="rId2"/>
          <a:stretch>
            <a:fillRect/>
          </a:stretch>
        </p:blipFill>
        <p:spPr>
          <a:xfrm>
            <a:off x="8991600" y="3165872"/>
            <a:ext cx="9157063" cy="201570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E1E2F"/>
        </a:solidFill>
        <a:effectLst/>
      </p:bgPr>
    </p:bg>
    <p:spTree>
      <p:nvGrpSpPr>
        <p:cNvPr id="1" name=""/>
        <p:cNvGrpSpPr/>
        <p:nvPr/>
      </p:nvGrpSpPr>
      <p:grpSpPr>
        <a:xfrm>
          <a:off x="0" y="0"/>
          <a:ext cx="0" cy="0"/>
          <a:chOff x="0" y="0"/>
          <a:chExt cx="0" cy="0"/>
        </a:xfrm>
      </p:grpSpPr>
      <p:sp>
        <p:nvSpPr>
          <p:cNvPr id="3" name="TextBox 3"/>
          <p:cNvSpPr txBox="1"/>
          <p:nvPr/>
        </p:nvSpPr>
        <p:spPr>
          <a:xfrm>
            <a:off x="10591800" y="2466171"/>
            <a:ext cx="6886575" cy="923330"/>
          </a:xfrm>
          <a:prstGeom prst="rect">
            <a:avLst/>
          </a:prstGeom>
        </p:spPr>
        <p:txBody>
          <a:bodyPr lIns="0" tIns="0" rIns="0" bIns="0" rtlCol="0" anchor="t">
            <a:spAutoFit/>
          </a:bodyPr>
          <a:lstStyle/>
          <a:p>
            <a:pPr>
              <a:lnSpc>
                <a:spcPts val="3600"/>
              </a:lnSpc>
            </a:pPr>
            <a:r>
              <a:rPr lang="en-US" sz="3000" spc="-60" dirty="0">
                <a:solidFill>
                  <a:srgbClr val="F8F8F2"/>
                </a:solidFill>
                <a:latin typeface="Inclusive Sans"/>
                <a:cs typeface="Inclusive Sans"/>
              </a:rPr>
              <a:t>Aesthetic mappings describe how data variables map to visual properties.</a:t>
            </a:r>
          </a:p>
        </p:txBody>
      </p:sp>
      <p:sp>
        <p:nvSpPr>
          <p:cNvPr id="5" name="TextBox 5"/>
          <p:cNvSpPr txBox="1"/>
          <p:nvPr/>
        </p:nvSpPr>
        <p:spPr>
          <a:xfrm>
            <a:off x="9512943" y="2479526"/>
            <a:ext cx="774058" cy="448310"/>
          </a:xfrm>
          <a:prstGeom prst="rect">
            <a:avLst/>
          </a:prstGeom>
        </p:spPr>
        <p:txBody>
          <a:bodyPr lIns="0" tIns="0" rIns="0" bIns="0" rtlCol="0" anchor="t">
            <a:spAutoFit/>
          </a:bodyPr>
          <a:lstStyle/>
          <a:p>
            <a:pPr marL="0" lvl="0" indent="0" algn="r">
              <a:lnSpc>
                <a:spcPts val="3640"/>
              </a:lnSpc>
            </a:pPr>
            <a:r>
              <a:rPr lang="en-US" sz="2600" b="1" dirty="0">
                <a:solidFill>
                  <a:srgbClr val="F8F8F2"/>
                </a:solidFill>
                <a:latin typeface="Lovelace Text Bold"/>
                <a:ea typeface="Lovelace Text Bold"/>
                <a:cs typeface="Lovelace Text Bold"/>
                <a:sym typeface="Lovelace Text Bold"/>
              </a:rPr>
              <a:t>01</a:t>
            </a:r>
          </a:p>
        </p:txBody>
      </p:sp>
      <p:sp>
        <p:nvSpPr>
          <p:cNvPr id="7" name="TextBox 7"/>
          <p:cNvSpPr txBox="1"/>
          <p:nvPr/>
        </p:nvSpPr>
        <p:spPr>
          <a:xfrm>
            <a:off x="10719434" y="4690281"/>
            <a:ext cx="6886575" cy="923330"/>
          </a:xfrm>
          <a:prstGeom prst="rect">
            <a:avLst/>
          </a:prstGeom>
        </p:spPr>
        <p:txBody>
          <a:bodyPr lIns="0" tIns="0" rIns="0" bIns="0" rtlCol="0" anchor="t">
            <a:spAutoFit/>
          </a:bodyPr>
          <a:lstStyle/>
          <a:p>
            <a:pPr lvl="0"/>
            <a:r>
              <a:rPr lang="en-US" sz="3000" spc="-60" dirty="0">
                <a:solidFill>
                  <a:srgbClr val="F8F8F2"/>
                </a:solidFill>
                <a:latin typeface="Inclusive Sans"/>
                <a:cs typeface="Inclusive Sans"/>
              </a:rPr>
              <a:t>Common aesthetics: x, y, color, size, shape, fill.</a:t>
            </a:r>
          </a:p>
        </p:txBody>
      </p:sp>
      <p:sp>
        <p:nvSpPr>
          <p:cNvPr id="9" name="TextBox 9"/>
          <p:cNvSpPr txBox="1"/>
          <p:nvPr/>
        </p:nvSpPr>
        <p:spPr>
          <a:xfrm>
            <a:off x="9620257" y="4729349"/>
            <a:ext cx="774058" cy="448310"/>
          </a:xfrm>
          <a:prstGeom prst="rect">
            <a:avLst/>
          </a:prstGeom>
        </p:spPr>
        <p:txBody>
          <a:bodyPr lIns="0" tIns="0" rIns="0" bIns="0" rtlCol="0" anchor="t">
            <a:spAutoFit/>
          </a:bodyPr>
          <a:lstStyle/>
          <a:p>
            <a:pPr marL="0" lvl="0" indent="0" algn="r">
              <a:lnSpc>
                <a:spcPts val="3640"/>
              </a:lnSpc>
            </a:pPr>
            <a:r>
              <a:rPr lang="en-US" sz="2600" b="1" dirty="0">
                <a:solidFill>
                  <a:srgbClr val="F8F8F2"/>
                </a:solidFill>
                <a:latin typeface="Lovelace Text Bold"/>
                <a:ea typeface="Lovelace Text Bold"/>
                <a:cs typeface="Lovelace Text Bold"/>
                <a:sym typeface="Lovelace Text Bold"/>
              </a:rPr>
              <a:t>02</a:t>
            </a:r>
          </a:p>
        </p:txBody>
      </p:sp>
      <p:sp>
        <p:nvSpPr>
          <p:cNvPr id="11" name="TextBox 11"/>
          <p:cNvSpPr txBox="1"/>
          <p:nvPr/>
        </p:nvSpPr>
        <p:spPr>
          <a:xfrm>
            <a:off x="10591800" y="6828032"/>
            <a:ext cx="7598415" cy="1846660"/>
          </a:xfrm>
          <a:prstGeom prst="rect">
            <a:avLst/>
          </a:prstGeom>
        </p:spPr>
        <p:txBody>
          <a:bodyPr wrap="square" lIns="0" tIns="0" rIns="0" bIns="0" rtlCol="0" anchor="t">
            <a:spAutoFit/>
          </a:bodyPr>
          <a:lstStyle/>
          <a:p>
            <a:pPr>
              <a:lnSpc>
                <a:spcPts val="3600"/>
              </a:lnSpc>
            </a:pPr>
            <a:r>
              <a:rPr lang="en-US" sz="3000" spc="-60" dirty="0">
                <a:solidFill>
                  <a:srgbClr val="F8F8F2"/>
                </a:solidFill>
                <a:latin typeface="Inclusive Sans"/>
                <a:cs typeface="Inclusive Sans"/>
              </a:rPr>
              <a:t>ggplot(df) + aes(x='RM', y='MEDV')</a:t>
            </a:r>
          </a:p>
          <a:p>
            <a:pPr>
              <a:lnSpc>
                <a:spcPts val="3600"/>
              </a:lnSpc>
            </a:pPr>
            <a:r>
              <a:rPr lang="en-US" sz="3000" spc="-60" dirty="0">
                <a:solidFill>
                  <a:srgbClr val="F8F8F2"/>
                </a:solidFill>
                <a:latin typeface="Inclusive Sans"/>
                <a:cs typeface="Inclusive Sans"/>
              </a:rPr>
              <a:t>Links average number of rooms to median home value</a:t>
            </a:r>
          </a:p>
          <a:p>
            <a:pPr>
              <a:lnSpc>
                <a:spcPts val="3600"/>
              </a:lnSpc>
            </a:pPr>
            <a:endParaRPr lang="en-US" sz="3000" spc="-60" dirty="0">
              <a:solidFill>
                <a:srgbClr val="F8F8F2"/>
              </a:solidFill>
              <a:latin typeface="Inclusive Sans"/>
              <a:cs typeface="Inclusive Sans"/>
              <a:sym typeface="Inclusive Sans"/>
            </a:endParaRPr>
          </a:p>
        </p:txBody>
      </p:sp>
      <p:sp>
        <p:nvSpPr>
          <p:cNvPr id="13" name="TextBox 13"/>
          <p:cNvSpPr txBox="1"/>
          <p:nvPr/>
        </p:nvSpPr>
        <p:spPr>
          <a:xfrm>
            <a:off x="9655817" y="6945288"/>
            <a:ext cx="774058" cy="448310"/>
          </a:xfrm>
          <a:prstGeom prst="rect">
            <a:avLst/>
          </a:prstGeom>
        </p:spPr>
        <p:txBody>
          <a:bodyPr lIns="0" tIns="0" rIns="0" bIns="0" rtlCol="0" anchor="t">
            <a:spAutoFit/>
          </a:bodyPr>
          <a:lstStyle/>
          <a:p>
            <a:pPr marL="0" lvl="0" indent="0" algn="r">
              <a:lnSpc>
                <a:spcPts val="3640"/>
              </a:lnSpc>
            </a:pPr>
            <a:r>
              <a:rPr lang="en-US" sz="2600" b="1" dirty="0">
                <a:solidFill>
                  <a:srgbClr val="F8F8F2"/>
                </a:solidFill>
                <a:latin typeface="Lovelace Text Bold"/>
                <a:ea typeface="Lovelace Text Bold"/>
                <a:cs typeface="Lovelace Text Bold"/>
                <a:sym typeface="Lovelace Text Bold"/>
              </a:rPr>
              <a:t>03</a:t>
            </a:r>
          </a:p>
        </p:txBody>
      </p:sp>
      <p:sp>
        <p:nvSpPr>
          <p:cNvPr id="16" name="TextBox 16"/>
          <p:cNvSpPr txBox="1"/>
          <p:nvPr/>
        </p:nvSpPr>
        <p:spPr>
          <a:xfrm>
            <a:off x="666749" y="800100"/>
            <a:ext cx="9763125" cy="1008866"/>
          </a:xfrm>
          <a:prstGeom prst="rect">
            <a:avLst/>
          </a:prstGeom>
        </p:spPr>
        <p:txBody>
          <a:bodyPr wrap="square" lIns="0" tIns="0" rIns="0" bIns="0" rtlCol="0" anchor="t">
            <a:spAutoFit/>
          </a:bodyPr>
          <a:lstStyle/>
          <a:p>
            <a:pPr marL="0" lvl="0" indent="0" algn="l">
              <a:lnSpc>
                <a:spcPts val="7474"/>
              </a:lnSpc>
            </a:pPr>
            <a:r>
              <a:rPr lang="en-US" sz="7200" dirty="0">
                <a:solidFill>
                  <a:srgbClr val="50FA7B"/>
                </a:solidFill>
                <a:latin typeface="Lovelace Text"/>
                <a:ea typeface="Lovelace Text"/>
                <a:cs typeface="Lovelace Text"/>
                <a:sym typeface="Lovelace Text"/>
              </a:rPr>
              <a:t>Layer 2: Aesthetics</a:t>
            </a:r>
          </a:p>
        </p:txBody>
      </p:sp>
      <p:pic>
        <p:nvPicPr>
          <p:cNvPr id="17" name="Content Placeholder 3">
            <a:extLst>
              <a:ext uri="{FF2B5EF4-FFF2-40B4-BE49-F238E27FC236}">
                <a16:creationId xmlns:a16="http://schemas.microsoft.com/office/drawing/2014/main" id="{A773A676-7B62-F326-1A92-742958257BC5}"/>
              </a:ext>
            </a:extLst>
          </p:cNvPr>
          <p:cNvPicPr>
            <a:picLocks noChangeAspect="1"/>
          </p:cNvPicPr>
          <p:nvPr/>
        </p:nvPicPr>
        <p:blipFill>
          <a:blip r:embed="rId2"/>
          <a:stretch>
            <a:fillRect/>
          </a:stretch>
        </p:blipFill>
        <p:spPr>
          <a:xfrm>
            <a:off x="240659" y="2466171"/>
            <a:ext cx="8534399" cy="531266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292D3E"/>
        </a:solidFill>
        <a:effectLst/>
      </p:bgPr>
    </p:bg>
    <p:spTree>
      <p:nvGrpSpPr>
        <p:cNvPr id="1" name=""/>
        <p:cNvGrpSpPr/>
        <p:nvPr/>
      </p:nvGrpSpPr>
      <p:grpSpPr>
        <a:xfrm>
          <a:off x="0" y="0"/>
          <a:ext cx="0" cy="0"/>
          <a:chOff x="0" y="0"/>
          <a:chExt cx="0" cy="0"/>
        </a:xfrm>
      </p:grpSpPr>
      <p:sp>
        <p:nvSpPr>
          <p:cNvPr id="3" name="TextBox 3"/>
          <p:cNvSpPr txBox="1"/>
          <p:nvPr/>
        </p:nvSpPr>
        <p:spPr>
          <a:xfrm>
            <a:off x="27215" y="3435503"/>
            <a:ext cx="9497786" cy="923330"/>
          </a:xfrm>
          <a:prstGeom prst="rect">
            <a:avLst/>
          </a:prstGeom>
        </p:spPr>
        <p:txBody>
          <a:bodyPr wrap="square" lIns="0" tIns="0" rIns="0" bIns="0" rtlCol="0" anchor="t">
            <a:spAutoFit/>
          </a:bodyPr>
          <a:lstStyle/>
          <a:p>
            <a:pPr marL="457200" indent="-457200">
              <a:buFont typeface="Arial" panose="020B0604020202020204" pitchFamily="34" charset="0"/>
              <a:buChar char="•"/>
            </a:pPr>
            <a:r>
              <a:rPr lang="en-US" sz="3000" spc="-60" dirty="0">
                <a:solidFill>
                  <a:srgbClr val="F8F8F2"/>
                </a:solidFill>
                <a:latin typeface="Inclusive Sans"/>
                <a:cs typeface="Inclusive Sans"/>
              </a:rPr>
              <a:t>Geoms define the type of visual mark (point, bar, line, box, etc.)</a:t>
            </a:r>
          </a:p>
        </p:txBody>
      </p:sp>
      <p:sp>
        <p:nvSpPr>
          <p:cNvPr id="7" name="TextBox 7"/>
          <p:cNvSpPr txBox="1"/>
          <p:nvPr/>
        </p:nvSpPr>
        <p:spPr>
          <a:xfrm>
            <a:off x="27214" y="4681835"/>
            <a:ext cx="11189367" cy="923330"/>
          </a:xfrm>
          <a:prstGeom prst="rect">
            <a:avLst/>
          </a:prstGeom>
        </p:spPr>
        <p:txBody>
          <a:bodyPr wrap="square" lIns="0" tIns="0" rIns="0" bIns="0" rtlCol="0" anchor="t">
            <a:spAutoFit/>
          </a:bodyPr>
          <a:lstStyle/>
          <a:p>
            <a:pPr marL="457200" indent="-457200">
              <a:lnSpc>
                <a:spcPts val="3600"/>
              </a:lnSpc>
              <a:buFont typeface="Arial" panose="020B0604020202020204" pitchFamily="34" charset="0"/>
              <a:buChar char="•"/>
            </a:pPr>
            <a:r>
              <a:rPr lang="en-US" sz="3000" spc="-60" dirty="0">
                <a:solidFill>
                  <a:srgbClr val="F8F8F2"/>
                </a:solidFill>
                <a:latin typeface="Inclusive Sans"/>
                <a:cs typeface="Inclusive Sans"/>
              </a:rPr>
              <a:t>Each geom layer adds a visual representation.</a:t>
            </a:r>
          </a:p>
          <a:p>
            <a:pPr>
              <a:lnSpc>
                <a:spcPts val="3600"/>
              </a:lnSpc>
            </a:pPr>
            <a:r>
              <a:rPr lang="en-US" sz="3000" spc="-60" dirty="0">
                <a:solidFill>
                  <a:srgbClr val="F8F8F2"/>
                </a:solidFill>
                <a:latin typeface="Inclusive Sans"/>
                <a:cs typeface="Inclusive Sans"/>
              </a:rPr>
              <a:t>    Examples:</a:t>
            </a:r>
          </a:p>
        </p:txBody>
      </p:sp>
      <p:sp>
        <p:nvSpPr>
          <p:cNvPr id="11" name="TextBox 11"/>
          <p:cNvSpPr txBox="1"/>
          <p:nvPr/>
        </p:nvSpPr>
        <p:spPr>
          <a:xfrm>
            <a:off x="228600" y="5905500"/>
            <a:ext cx="10210800" cy="3924151"/>
          </a:xfrm>
          <a:prstGeom prst="rect">
            <a:avLst/>
          </a:prstGeom>
        </p:spPr>
        <p:txBody>
          <a:bodyPr wrap="square" lIns="0" tIns="0" rIns="0" bIns="0" rtlCol="0" anchor="t">
            <a:spAutoFit/>
          </a:bodyPr>
          <a:lstStyle/>
          <a:p>
            <a:pPr>
              <a:lnSpc>
                <a:spcPct val="150000"/>
              </a:lnSpc>
            </a:pPr>
            <a:r>
              <a:rPr lang="en-US" sz="3000" spc="-60" dirty="0">
                <a:solidFill>
                  <a:srgbClr val="F8F8F2"/>
                </a:solidFill>
                <a:latin typeface="Inclusive Sans"/>
                <a:cs typeface="Inclusive Sans"/>
              </a:rPr>
              <a:t>geom_point(): scatterplot</a:t>
            </a:r>
          </a:p>
          <a:p>
            <a:pPr>
              <a:lnSpc>
                <a:spcPct val="150000"/>
              </a:lnSpc>
            </a:pPr>
            <a:r>
              <a:rPr lang="en-US" sz="3000" spc="-60" dirty="0">
                <a:solidFill>
                  <a:srgbClr val="F8F8F2"/>
                </a:solidFill>
                <a:latin typeface="Inclusive Sans"/>
                <a:cs typeface="Inclusive Sans"/>
              </a:rPr>
              <a:t> geom_histogram(): histogram</a:t>
            </a:r>
          </a:p>
          <a:p>
            <a:pPr>
              <a:lnSpc>
                <a:spcPct val="150000"/>
              </a:lnSpc>
            </a:pPr>
            <a:r>
              <a:rPr lang="en-US" sz="3000" spc="-60" dirty="0">
                <a:solidFill>
                  <a:srgbClr val="F8F8F2"/>
                </a:solidFill>
                <a:latin typeface="Inclusive Sans"/>
                <a:cs typeface="Inclusive Sans"/>
              </a:rPr>
              <a:t> geom_boxplot(): box plot</a:t>
            </a:r>
          </a:p>
          <a:p>
            <a:pPr>
              <a:lnSpc>
                <a:spcPct val="150000"/>
              </a:lnSpc>
            </a:pPr>
            <a:r>
              <a:rPr lang="en-US" sz="3000" spc="-60" dirty="0">
                <a:solidFill>
                  <a:srgbClr val="F8F8F2"/>
                </a:solidFill>
                <a:latin typeface="Inclusive Sans"/>
                <a:cs typeface="Inclusive Sans"/>
              </a:rPr>
              <a:t>geom_area(): Used for creating area plots, filling the area under a line.</a:t>
            </a:r>
          </a:p>
          <a:p>
            <a:r>
              <a:rPr lang="en-US" sz="3000" spc="-60" dirty="0">
                <a:solidFill>
                  <a:srgbClr val="F8F8F2"/>
                </a:solidFill>
                <a:latin typeface="Inclusive Sans"/>
                <a:cs typeface="Inclusive Sans"/>
              </a:rPr>
              <a:t>Multiple geoms can be layered together for richer visuals.</a:t>
            </a:r>
          </a:p>
        </p:txBody>
      </p:sp>
      <p:sp>
        <p:nvSpPr>
          <p:cNvPr id="14" name="TextBox 14"/>
          <p:cNvSpPr txBox="1"/>
          <p:nvPr/>
        </p:nvSpPr>
        <p:spPr>
          <a:xfrm>
            <a:off x="666750" y="819150"/>
            <a:ext cx="15516225" cy="1173398"/>
          </a:xfrm>
          <a:prstGeom prst="rect">
            <a:avLst/>
          </a:prstGeom>
        </p:spPr>
        <p:txBody>
          <a:bodyPr lIns="0" tIns="0" rIns="0" bIns="0" rtlCol="0" anchor="t">
            <a:spAutoFit/>
          </a:bodyPr>
          <a:lstStyle/>
          <a:p>
            <a:pPr marL="0" lvl="0" indent="0" algn="l">
              <a:lnSpc>
                <a:spcPts val="9000"/>
              </a:lnSpc>
            </a:pPr>
            <a:r>
              <a:rPr lang="en-US" sz="7200" dirty="0">
                <a:solidFill>
                  <a:srgbClr val="50FA7B"/>
                </a:solidFill>
                <a:latin typeface="Lovelace Text"/>
                <a:ea typeface="Lovelace Text"/>
                <a:cs typeface="Lovelace Text"/>
                <a:sym typeface="Lovelace Text"/>
              </a:rPr>
              <a:t>Layer 3 Geometric Objects</a:t>
            </a:r>
          </a:p>
        </p:txBody>
      </p:sp>
      <p:pic>
        <p:nvPicPr>
          <p:cNvPr id="3074" name="Picture 2">
            <a:extLst>
              <a:ext uri="{FF2B5EF4-FFF2-40B4-BE49-F238E27FC236}">
                <a16:creationId xmlns:a16="http://schemas.microsoft.com/office/drawing/2014/main" id="{A8505330-863C-90F5-172E-AE4B48D771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67240" y="2552700"/>
            <a:ext cx="8382000" cy="549028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E1E2F"/>
        </a:solidFill>
        <a:effectLst/>
      </p:bgPr>
    </p:bg>
    <p:spTree>
      <p:nvGrpSpPr>
        <p:cNvPr id="1" name=""/>
        <p:cNvGrpSpPr/>
        <p:nvPr/>
      </p:nvGrpSpPr>
      <p:grpSpPr>
        <a:xfrm>
          <a:off x="0" y="0"/>
          <a:ext cx="0" cy="0"/>
          <a:chOff x="0" y="0"/>
          <a:chExt cx="0" cy="0"/>
        </a:xfrm>
      </p:grpSpPr>
      <p:sp>
        <p:nvSpPr>
          <p:cNvPr id="3" name="TextBox 3"/>
          <p:cNvSpPr txBox="1"/>
          <p:nvPr/>
        </p:nvSpPr>
        <p:spPr>
          <a:xfrm>
            <a:off x="381000" y="3238500"/>
            <a:ext cx="12039600" cy="5539978"/>
          </a:xfrm>
          <a:prstGeom prst="rect">
            <a:avLst/>
          </a:prstGeom>
        </p:spPr>
        <p:txBody>
          <a:bodyPr wrap="square" lIns="0" tIns="0" rIns="0" bIns="0" rtlCol="0" anchor="t">
            <a:spAutoFit/>
          </a:bodyPr>
          <a:lstStyle/>
          <a:p>
            <a:pPr marL="457200" indent="-457200">
              <a:lnSpc>
                <a:spcPts val="3600"/>
              </a:lnSpc>
              <a:buFont typeface="Arial" panose="020B0604020202020204" pitchFamily="34" charset="0"/>
              <a:buChar char="•"/>
            </a:pPr>
            <a:r>
              <a:rPr lang="en-US" sz="3000" spc="-60" dirty="0">
                <a:solidFill>
                  <a:srgbClr val="F8F8F2"/>
                </a:solidFill>
                <a:latin typeface="Inclusive Sans"/>
                <a:cs typeface="Inclusive Sans"/>
              </a:rPr>
              <a:t>Statistical Transformation :Specify computations and aggregations to be applied to the data before plotting it.</a:t>
            </a:r>
          </a:p>
          <a:p>
            <a:r>
              <a:rPr lang="en-US" sz="3000" spc="-60" dirty="0">
                <a:solidFill>
                  <a:srgbClr val="F8F8F2"/>
                </a:solidFill>
                <a:latin typeface="Inclusive Sans"/>
                <a:cs typeface="Inclusive Sans"/>
              </a:rPr>
              <a:t>    Example: geom_histogram() uses stat_bin to create bins.</a:t>
            </a:r>
          </a:p>
          <a:p>
            <a:r>
              <a:rPr lang="en-US" sz="3000" spc="-60" dirty="0">
                <a:solidFill>
                  <a:srgbClr val="F8F8F2"/>
                </a:solidFill>
                <a:latin typeface="Inclusive Sans"/>
                <a:cs typeface="Inclusive Sans"/>
              </a:rPr>
              <a:t>    Scales control how data maps to aesthetics.</a:t>
            </a:r>
          </a:p>
          <a:p>
            <a:pPr>
              <a:lnSpc>
                <a:spcPts val="3600"/>
              </a:lnSpc>
            </a:pPr>
            <a:endParaRPr lang="en-US" sz="3000" spc="-60" dirty="0">
              <a:solidFill>
                <a:srgbClr val="F8F8F2"/>
              </a:solidFill>
              <a:latin typeface="Inclusive Sans"/>
              <a:cs typeface="Inclusive Sans"/>
            </a:endParaRPr>
          </a:p>
          <a:p>
            <a:pPr>
              <a:lnSpc>
                <a:spcPts val="3600"/>
              </a:lnSpc>
            </a:pPr>
            <a:endParaRPr lang="en-US" sz="3000" spc="-60" dirty="0">
              <a:solidFill>
                <a:srgbClr val="F8F8F2"/>
              </a:solidFill>
              <a:latin typeface="Inclusive Sans"/>
              <a:cs typeface="Inclusive Sans"/>
            </a:endParaRPr>
          </a:p>
          <a:p>
            <a:pPr marL="457200" indent="-457200">
              <a:lnSpc>
                <a:spcPts val="3600"/>
              </a:lnSpc>
              <a:buFont typeface="Arial" panose="020B0604020202020204" pitchFamily="34" charset="0"/>
              <a:buChar char="•"/>
            </a:pPr>
            <a:r>
              <a:rPr lang="en-US" sz="3000" spc="-60" dirty="0">
                <a:solidFill>
                  <a:srgbClr val="F8F8F2"/>
                </a:solidFill>
                <a:latin typeface="Inclusive Sans"/>
                <a:cs typeface="Inclusive Sans"/>
              </a:rPr>
              <a:t>Scales: Apply some transformation during the mapping from data to aesthetics. For example, sometimes you can use a logarithmic scale to better reflect some aspects of your data.</a:t>
            </a:r>
          </a:p>
          <a:p>
            <a:pPr>
              <a:lnSpc>
                <a:spcPts val="3600"/>
              </a:lnSpc>
            </a:pPr>
            <a:r>
              <a:rPr lang="en-US" sz="3000" spc="-60" dirty="0">
                <a:solidFill>
                  <a:srgbClr val="F8F8F2"/>
                </a:solidFill>
                <a:latin typeface="Inclusive Sans"/>
                <a:cs typeface="Inclusive Sans"/>
              </a:rPr>
              <a:t>    Example: scale_x_log10() or scale_fill_gradient().</a:t>
            </a:r>
          </a:p>
          <a:p>
            <a:r>
              <a:rPr lang="en-US" sz="3000" spc="-60" dirty="0">
                <a:solidFill>
                  <a:srgbClr val="F8F8F2"/>
                </a:solidFill>
                <a:latin typeface="Inclusive Sans"/>
                <a:cs typeface="Inclusive Sans"/>
              </a:rPr>
              <a:t>    Together, they control the mathematical and visual </a:t>
            </a:r>
          </a:p>
          <a:p>
            <a:r>
              <a:rPr lang="en-US" sz="3000" spc="-60" dirty="0">
                <a:solidFill>
                  <a:srgbClr val="F8F8F2"/>
                </a:solidFill>
                <a:latin typeface="Inclusive Sans"/>
                <a:cs typeface="Inclusive Sans"/>
              </a:rPr>
              <a:t>    interpretation of data</a:t>
            </a:r>
          </a:p>
        </p:txBody>
      </p:sp>
      <p:sp>
        <p:nvSpPr>
          <p:cNvPr id="14" name="TextBox 14"/>
          <p:cNvSpPr txBox="1"/>
          <p:nvPr/>
        </p:nvSpPr>
        <p:spPr>
          <a:xfrm>
            <a:off x="257175" y="416317"/>
            <a:ext cx="17773650" cy="2182970"/>
          </a:xfrm>
          <a:prstGeom prst="rect">
            <a:avLst/>
          </a:prstGeom>
        </p:spPr>
        <p:txBody>
          <a:bodyPr wrap="square" lIns="0" tIns="0" rIns="0" bIns="0" rtlCol="0" anchor="t">
            <a:spAutoFit/>
          </a:bodyPr>
          <a:lstStyle/>
          <a:p>
            <a:pPr marL="0" lvl="0" indent="0" algn="l">
              <a:lnSpc>
                <a:spcPts val="8325"/>
              </a:lnSpc>
            </a:pPr>
            <a:r>
              <a:rPr lang="en-US" sz="7200" dirty="0">
                <a:solidFill>
                  <a:srgbClr val="50FA7B"/>
                </a:solidFill>
                <a:latin typeface="Lovelace Text"/>
                <a:ea typeface="Lovelace Text"/>
                <a:cs typeface="Lovelace Text"/>
                <a:sym typeface="Lovelace Text"/>
              </a:rPr>
              <a:t>Layer 4&amp;5 :Statistical Transformation. &amp; Scale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292D3E"/>
        </a:solidFill>
        <a:effectLst/>
      </p:bgPr>
    </p:bg>
    <p:spTree>
      <p:nvGrpSpPr>
        <p:cNvPr id="1" name="">
          <a:extLst>
            <a:ext uri="{FF2B5EF4-FFF2-40B4-BE49-F238E27FC236}">
              <a16:creationId xmlns:a16="http://schemas.microsoft.com/office/drawing/2014/main" id="{6ADB1B0F-9ECF-3E3B-B3F5-E5CE278BC113}"/>
            </a:ext>
          </a:extLst>
        </p:cNvPr>
        <p:cNvGrpSpPr/>
        <p:nvPr/>
      </p:nvGrpSpPr>
      <p:grpSpPr>
        <a:xfrm>
          <a:off x="0" y="0"/>
          <a:ext cx="0" cy="0"/>
          <a:chOff x="0" y="0"/>
          <a:chExt cx="0" cy="0"/>
        </a:xfrm>
      </p:grpSpPr>
      <p:sp>
        <p:nvSpPr>
          <p:cNvPr id="7" name="TextBox 7">
            <a:extLst>
              <a:ext uri="{FF2B5EF4-FFF2-40B4-BE49-F238E27FC236}">
                <a16:creationId xmlns:a16="http://schemas.microsoft.com/office/drawing/2014/main" id="{B12AE608-6BD9-349F-21FE-A98B15CAA9AA}"/>
              </a:ext>
            </a:extLst>
          </p:cNvPr>
          <p:cNvSpPr txBox="1"/>
          <p:nvPr/>
        </p:nvSpPr>
        <p:spPr>
          <a:xfrm>
            <a:off x="224518" y="2592607"/>
            <a:ext cx="16920482" cy="6848029"/>
          </a:xfrm>
          <a:prstGeom prst="rect">
            <a:avLst/>
          </a:prstGeom>
        </p:spPr>
        <p:txBody>
          <a:bodyPr wrap="square" lIns="0" tIns="0" rIns="0" bIns="0" rtlCol="0" anchor="t">
            <a:spAutoFit/>
          </a:bodyPr>
          <a:lstStyle/>
          <a:p>
            <a:pPr>
              <a:lnSpc>
                <a:spcPct val="150000"/>
              </a:lnSpc>
            </a:pPr>
            <a:r>
              <a:rPr lang="en-US" sz="2400" dirty="0"/>
              <a:t> </a:t>
            </a:r>
            <a:r>
              <a:rPr lang="en-US" sz="3000" spc="-60" dirty="0">
                <a:solidFill>
                  <a:srgbClr val="F8F8F2"/>
                </a:solidFill>
                <a:latin typeface="Inclusive Sans"/>
                <a:cs typeface="Inclusive Sans"/>
              </a:rPr>
              <a:t>Coordinate systems define how data points are arranged in space.</a:t>
            </a:r>
          </a:p>
          <a:p>
            <a:pPr>
              <a:lnSpc>
                <a:spcPct val="150000"/>
              </a:lnSpc>
            </a:pPr>
            <a:r>
              <a:rPr lang="en-US" sz="3000" spc="-60" dirty="0">
                <a:solidFill>
                  <a:srgbClr val="F8F8F2"/>
                </a:solidFill>
                <a:latin typeface="Inclusive Sans"/>
                <a:cs typeface="Inclusive Sans"/>
              </a:rPr>
              <a:t> Default is Cartesian (x–y) coordinates.</a:t>
            </a:r>
          </a:p>
          <a:p>
            <a:pPr>
              <a:lnSpc>
                <a:spcPct val="150000"/>
              </a:lnSpc>
            </a:pPr>
            <a:r>
              <a:rPr lang="en-US" sz="3000" spc="-60" dirty="0">
                <a:solidFill>
                  <a:srgbClr val="F8F8F2"/>
                </a:solidFill>
                <a:latin typeface="Inclusive Sans"/>
                <a:cs typeface="Inclusive Sans"/>
              </a:rPr>
              <a:t>coord_flip(): swaps axes.</a:t>
            </a:r>
          </a:p>
          <a:p>
            <a:pPr>
              <a:lnSpc>
                <a:spcPct val="150000"/>
              </a:lnSpc>
            </a:pPr>
            <a:r>
              <a:rPr lang="en-US" sz="3000" spc="-60" dirty="0">
                <a:solidFill>
                  <a:srgbClr val="F8F8F2"/>
                </a:solidFill>
                <a:latin typeface="Inclusive Sans"/>
                <a:cs typeface="Inclusive Sans"/>
              </a:rPr>
              <a:t> coord_polar(): creates circular plots.</a:t>
            </a:r>
          </a:p>
          <a:p>
            <a:pPr>
              <a:lnSpc>
                <a:spcPct val="150000"/>
              </a:lnSpc>
            </a:pPr>
            <a:r>
              <a:rPr lang="en-US" sz="3000" spc="-60" dirty="0">
                <a:solidFill>
                  <a:srgbClr val="F8F8F2"/>
                </a:solidFill>
                <a:latin typeface="Inclusive Sans"/>
                <a:cs typeface="Inclusive Sans"/>
              </a:rPr>
              <a:t>coord_fixed(): Ensures that the aspect ratio of the x and y axes is maintained, preventing distortion when comparing shapes or distances.</a:t>
            </a:r>
          </a:p>
          <a:p>
            <a:pPr>
              <a:lnSpc>
                <a:spcPct val="150000"/>
              </a:lnSpc>
            </a:pPr>
            <a:r>
              <a:rPr lang="en-US" sz="3000" spc="-60" dirty="0">
                <a:solidFill>
                  <a:srgbClr val="F8F8F2"/>
                </a:solidFill>
                <a:latin typeface="Inclusive Sans"/>
                <a:cs typeface="Inclusive Sans"/>
              </a:rPr>
              <a:t>coord_map(): Used for plotting geographical data, applying map projections to transform spherical coordinates onto a flat plane.</a:t>
            </a:r>
          </a:p>
          <a:p>
            <a:pPr>
              <a:lnSpc>
                <a:spcPct val="150000"/>
              </a:lnSpc>
            </a:pPr>
            <a:endParaRPr lang="en-US" sz="3000" spc="-60" dirty="0">
              <a:solidFill>
                <a:srgbClr val="F8F8F2"/>
              </a:solidFill>
              <a:latin typeface="Inclusive Sans"/>
              <a:cs typeface="Inclusive Sans"/>
            </a:endParaRPr>
          </a:p>
          <a:p>
            <a:pPr>
              <a:lnSpc>
                <a:spcPct val="150000"/>
              </a:lnSpc>
            </a:pPr>
            <a:r>
              <a:rPr lang="en-US" sz="3000" spc="-60" dirty="0">
                <a:solidFill>
                  <a:srgbClr val="F8F8F2"/>
                </a:solidFill>
                <a:latin typeface="Inclusive Sans"/>
                <a:cs typeface="Inclusive Sans"/>
              </a:rPr>
              <a:t>Changing coordinates changes how data is projected and compared.</a:t>
            </a:r>
          </a:p>
        </p:txBody>
      </p:sp>
      <p:sp>
        <p:nvSpPr>
          <p:cNvPr id="14" name="TextBox 14">
            <a:extLst>
              <a:ext uri="{FF2B5EF4-FFF2-40B4-BE49-F238E27FC236}">
                <a16:creationId xmlns:a16="http://schemas.microsoft.com/office/drawing/2014/main" id="{A469F291-660B-8DFB-D7C5-D20ADF44F4DB}"/>
              </a:ext>
            </a:extLst>
          </p:cNvPr>
          <p:cNvSpPr txBox="1"/>
          <p:nvPr/>
        </p:nvSpPr>
        <p:spPr>
          <a:xfrm>
            <a:off x="666750" y="819150"/>
            <a:ext cx="15516225" cy="1084912"/>
          </a:xfrm>
          <a:prstGeom prst="rect">
            <a:avLst/>
          </a:prstGeom>
        </p:spPr>
        <p:txBody>
          <a:bodyPr lIns="0" tIns="0" rIns="0" bIns="0" rtlCol="0" anchor="t">
            <a:spAutoFit/>
          </a:bodyPr>
          <a:lstStyle/>
          <a:p>
            <a:pPr marL="0" lvl="0" indent="0" algn="l">
              <a:lnSpc>
                <a:spcPts val="8381"/>
              </a:lnSpc>
            </a:pPr>
            <a:r>
              <a:rPr lang="en-US" sz="7200" dirty="0">
                <a:solidFill>
                  <a:srgbClr val="50FA7B"/>
                </a:solidFill>
                <a:latin typeface="Lovelace Text"/>
                <a:ea typeface="Lovelace Text"/>
                <a:cs typeface="Lovelace Text"/>
                <a:sym typeface="Lovelace Text"/>
              </a:rPr>
              <a:t>Layer 6 : Coordinates</a:t>
            </a:r>
          </a:p>
        </p:txBody>
      </p:sp>
    </p:spTree>
    <p:extLst>
      <p:ext uri="{BB962C8B-B14F-4D97-AF65-F5344CB8AC3E}">
        <p14:creationId xmlns:p14="http://schemas.microsoft.com/office/powerpoint/2010/main" val="10729502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292D3E"/>
        </a:solidFill>
        <a:effectLst/>
      </p:bgPr>
    </p:bg>
    <p:spTree>
      <p:nvGrpSpPr>
        <p:cNvPr id="1" name="">
          <a:extLst>
            <a:ext uri="{FF2B5EF4-FFF2-40B4-BE49-F238E27FC236}">
              <a16:creationId xmlns:a16="http://schemas.microsoft.com/office/drawing/2014/main" id="{05E59556-C3F3-EFB4-FE94-FBE5B5986CB2}"/>
            </a:ext>
          </a:extLst>
        </p:cNvPr>
        <p:cNvGrpSpPr/>
        <p:nvPr/>
      </p:nvGrpSpPr>
      <p:grpSpPr>
        <a:xfrm>
          <a:off x="0" y="0"/>
          <a:ext cx="0" cy="0"/>
          <a:chOff x="0" y="0"/>
          <a:chExt cx="0" cy="0"/>
        </a:xfrm>
      </p:grpSpPr>
      <p:sp>
        <p:nvSpPr>
          <p:cNvPr id="7" name="TextBox 7">
            <a:extLst>
              <a:ext uri="{FF2B5EF4-FFF2-40B4-BE49-F238E27FC236}">
                <a16:creationId xmlns:a16="http://schemas.microsoft.com/office/drawing/2014/main" id="{7EF080AF-DCD4-D5DE-D3E8-952B1F0CA853}"/>
              </a:ext>
            </a:extLst>
          </p:cNvPr>
          <p:cNvSpPr txBox="1"/>
          <p:nvPr/>
        </p:nvSpPr>
        <p:spPr>
          <a:xfrm>
            <a:off x="228600" y="1876848"/>
            <a:ext cx="16634451" cy="9360704"/>
          </a:xfrm>
          <a:prstGeom prst="rect">
            <a:avLst/>
          </a:prstGeom>
        </p:spPr>
        <p:txBody>
          <a:bodyPr wrap="square" lIns="0" tIns="0" rIns="0" bIns="0" rtlCol="0" anchor="t">
            <a:spAutoFit/>
          </a:bodyPr>
          <a:lstStyle/>
          <a:p>
            <a:pPr>
              <a:lnSpc>
                <a:spcPct val="150000"/>
              </a:lnSpc>
            </a:pPr>
            <a:r>
              <a:rPr lang="en-US" sz="3000" spc="-60" dirty="0">
                <a:solidFill>
                  <a:srgbClr val="F8F8F2"/>
                </a:solidFill>
                <a:latin typeface="Inclusive Sans"/>
                <a:cs typeface="Inclusive Sans"/>
              </a:rPr>
              <a:t>Facets split data into multiple panels based on a categorical variable.</a:t>
            </a:r>
          </a:p>
          <a:p>
            <a:pPr>
              <a:lnSpc>
                <a:spcPct val="150000"/>
              </a:lnSpc>
            </a:pPr>
            <a:r>
              <a:rPr lang="en-US" sz="3000" spc="-60" dirty="0">
                <a:solidFill>
                  <a:srgbClr val="F8F8F2"/>
                </a:solidFill>
                <a:latin typeface="Inclusive Sans"/>
                <a:cs typeface="Inclusive Sans"/>
              </a:rPr>
              <a:t> Helps compare subgroups side by side.</a:t>
            </a:r>
          </a:p>
          <a:p>
            <a:pPr>
              <a:lnSpc>
                <a:spcPct val="150000"/>
              </a:lnSpc>
            </a:pPr>
            <a:endParaRPr lang="en-US" sz="2400" dirty="0"/>
          </a:p>
          <a:p>
            <a:pPr>
              <a:lnSpc>
                <a:spcPct val="150000"/>
              </a:lnSpc>
            </a:pPr>
            <a:r>
              <a:rPr lang="en-US" sz="3000" spc="-60" dirty="0">
                <a:solidFill>
                  <a:srgbClr val="F8F8F2"/>
                </a:solidFill>
                <a:latin typeface="Inclusive Sans"/>
                <a:cs typeface="Inclusive Sans"/>
              </a:rPr>
              <a:t>Types of Faceting:</a:t>
            </a:r>
          </a:p>
          <a:p>
            <a:pPr marL="0" lvl="1">
              <a:lnSpc>
                <a:spcPct val="150000"/>
              </a:lnSpc>
            </a:pPr>
            <a:r>
              <a:rPr lang="en-US" sz="3000" spc="-60" dirty="0">
                <a:solidFill>
                  <a:srgbClr val="F8F8F2"/>
                </a:solidFill>
                <a:latin typeface="Inclusive Sans"/>
                <a:cs typeface="Inclusive Sans"/>
              </a:rPr>
              <a:t>facet_wrap(): Used when you want to facet by a single variable, arranging the subplots in a "wrapped" layout (like text wrapping). You can control the number of rows or columns.</a:t>
            </a:r>
          </a:p>
          <a:p>
            <a:pPr marL="0" lvl="1">
              <a:lnSpc>
                <a:spcPct val="150000"/>
              </a:lnSpc>
            </a:pPr>
            <a:r>
              <a:rPr lang="en-US" sz="3000" spc="-60" dirty="0">
                <a:solidFill>
                  <a:srgbClr val="F8F8F2"/>
                </a:solidFill>
                <a:latin typeface="Inclusive Sans"/>
                <a:cs typeface="Inclusive Sans"/>
              </a:rPr>
              <a:t>facet_grid(): Used when you want to facet by two variables, creating a 2D grid of subplots. One variable defines the rows, and the other defines the columns.</a:t>
            </a:r>
          </a:p>
          <a:p>
            <a:pPr marL="0" lvl="1">
              <a:lnSpc>
                <a:spcPct val="150000"/>
              </a:lnSpc>
            </a:pPr>
            <a:endParaRPr lang="en-US" sz="3000" spc="-60" dirty="0">
              <a:solidFill>
                <a:srgbClr val="F8F8F2"/>
              </a:solidFill>
              <a:latin typeface="Inclusive Sans"/>
              <a:cs typeface="Inclusive Sans"/>
            </a:endParaRPr>
          </a:p>
          <a:p>
            <a:pPr>
              <a:lnSpc>
                <a:spcPct val="150000"/>
              </a:lnSpc>
            </a:pPr>
            <a:r>
              <a:rPr lang="en-US" sz="3000" spc="-60" dirty="0">
                <a:solidFill>
                  <a:srgbClr val="F8F8F2"/>
                </a:solidFill>
                <a:latin typeface="Inclusive Sans"/>
                <a:cs typeface="Inclusive Sans"/>
              </a:rPr>
              <a:t>Example:</a:t>
            </a:r>
          </a:p>
          <a:p>
            <a:pPr>
              <a:lnSpc>
                <a:spcPct val="150000"/>
              </a:lnSpc>
            </a:pPr>
            <a:r>
              <a:rPr lang="en-US" sz="3000" spc="-60" dirty="0">
                <a:solidFill>
                  <a:srgbClr val="F8F8F2"/>
                </a:solidFill>
                <a:latin typeface="Inclusive Sans"/>
                <a:cs typeface="Inclusive Sans"/>
              </a:rPr>
              <a:t>facet_wrap('~CHAS') → splits plots by river proximity.</a:t>
            </a:r>
          </a:p>
          <a:p>
            <a:pPr>
              <a:lnSpc>
                <a:spcPct val="150000"/>
              </a:lnSpc>
            </a:pPr>
            <a:r>
              <a:rPr lang="en-US" sz="3000" spc="-60" dirty="0">
                <a:solidFill>
                  <a:srgbClr val="F8F8F2"/>
                </a:solidFill>
                <a:latin typeface="Inclusive Sans"/>
                <a:cs typeface="Inclusive Sans"/>
              </a:rPr>
              <a:t>Encourages pattern recognition across categories</a:t>
            </a:r>
            <a:r>
              <a:rPr lang="en-US" sz="2400" dirty="0"/>
              <a:t>.</a:t>
            </a:r>
          </a:p>
          <a:p>
            <a:pPr marL="0" lvl="1">
              <a:lnSpc>
                <a:spcPct val="150000"/>
              </a:lnSpc>
            </a:pPr>
            <a:endParaRPr lang="en-US" sz="3000" spc="-60" dirty="0">
              <a:solidFill>
                <a:srgbClr val="F8F8F2"/>
              </a:solidFill>
              <a:latin typeface="Inclusive Sans"/>
              <a:cs typeface="Inclusive Sans"/>
            </a:endParaRPr>
          </a:p>
          <a:p>
            <a:pPr>
              <a:lnSpc>
                <a:spcPct val="150000"/>
              </a:lnSpc>
            </a:pPr>
            <a:endParaRPr lang="en-US" sz="2400" dirty="0"/>
          </a:p>
        </p:txBody>
      </p:sp>
      <p:sp>
        <p:nvSpPr>
          <p:cNvPr id="14" name="TextBox 14">
            <a:extLst>
              <a:ext uri="{FF2B5EF4-FFF2-40B4-BE49-F238E27FC236}">
                <a16:creationId xmlns:a16="http://schemas.microsoft.com/office/drawing/2014/main" id="{2D6C6D00-99D0-FA78-8A53-3A9C882EA281}"/>
              </a:ext>
            </a:extLst>
          </p:cNvPr>
          <p:cNvSpPr txBox="1"/>
          <p:nvPr/>
        </p:nvSpPr>
        <p:spPr>
          <a:xfrm>
            <a:off x="666750" y="819150"/>
            <a:ext cx="15516225" cy="1084912"/>
          </a:xfrm>
          <a:prstGeom prst="rect">
            <a:avLst/>
          </a:prstGeom>
        </p:spPr>
        <p:txBody>
          <a:bodyPr lIns="0" tIns="0" rIns="0" bIns="0" rtlCol="0" anchor="t">
            <a:spAutoFit/>
          </a:bodyPr>
          <a:lstStyle/>
          <a:p>
            <a:pPr marL="0" lvl="0" indent="0" algn="l">
              <a:lnSpc>
                <a:spcPts val="8381"/>
              </a:lnSpc>
            </a:pPr>
            <a:r>
              <a:rPr lang="en-US" sz="7200" dirty="0">
                <a:solidFill>
                  <a:srgbClr val="50FA7B"/>
                </a:solidFill>
                <a:latin typeface="Lovelace Text"/>
                <a:ea typeface="Lovelace Text"/>
                <a:cs typeface="Lovelace Text"/>
                <a:sym typeface="Lovelace Text"/>
              </a:rPr>
              <a:t>Layer 7 : Facets</a:t>
            </a:r>
          </a:p>
        </p:txBody>
      </p:sp>
    </p:spTree>
    <p:extLst>
      <p:ext uri="{BB962C8B-B14F-4D97-AF65-F5344CB8AC3E}">
        <p14:creationId xmlns:p14="http://schemas.microsoft.com/office/powerpoint/2010/main" val="4718976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292D3E"/>
        </a:solidFill>
        <a:effectLst/>
      </p:bgPr>
    </p:bg>
    <p:spTree>
      <p:nvGrpSpPr>
        <p:cNvPr id="1" name=""/>
        <p:cNvGrpSpPr/>
        <p:nvPr/>
      </p:nvGrpSpPr>
      <p:grpSpPr>
        <a:xfrm>
          <a:off x="0" y="0"/>
          <a:ext cx="0" cy="0"/>
          <a:chOff x="0" y="0"/>
          <a:chExt cx="0" cy="0"/>
        </a:xfrm>
      </p:grpSpPr>
      <p:sp>
        <p:nvSpPr>
          <p:cNvPr id="7" name="TextBox 7"/>
          <p:cNvSpPr txBox="1"/>
          <p:nvPr/>
        </p:nvSpPr>
        <p:spPr>
          <a:xfrm>
            <a:off x="264816" y="2476500"/>
            <a:ext cx="17015326" cy="8771632"/>
          </a:xfrm>
          <a:prstGeom prst="rect">
            <a:avLst/>
          </a:prstGeom>
        </p:spPr>
        <p:txBody>
          <a:bodyPr wrap="square" lIns="0" tIns="0" rIns="0" bIns="0" rtlCol="0" anchor="t">
            <a:spAutoFit/>
          </a:bodyPr>
          <a:lstStyle/>
          <a:p>
            <a:pPr>
              <a:lnSpc>
                <a:spcPct val="150000"/>
              </a:lnSpc>
            </a:pPr>
            <a:r>
              <a:rPr lang="en-US" altLang="en-US" sz="3000" b="1" spc="-60" dirty="0">
                <a:solidFill>
                  <a:srgbClr val="F8F8F2"/>
                </a:solidFill>
                <a:latin typeface="Inclusive Sans"/>
                <a:cs typeface="Inclusive Sans"/>
              </a:rPr>
              <a:t>Provides Structure: </a:t>
            </a:r>
            <a:r>
              <a:rPr lang="en-US" altLang="en-US" sz="3000" spc="-60" dirty="0">
                <a:solidFill>
                  <a:srgbClr val="F8F8F2"/>
                </a:solidFill>
                <a:latin typeface="Inclusive Sans"/>
                <a:cs typeface="Inclusive Sans"/>
              </a:rPr>
              <a:t>The Grammar of Graphics offers a clear framework for building visualizations by combining data, aesthetics, and geometric layers.</a:t>
            </a:r>
          </a:p>
          <a:p>
            <a:pPr lvl="0" eaLnBrk="0" fontAlgn="base" hangingPunct="0">
              <a:lnSpc>
                <a:spcPct val="150000"/>
              </a:lnSpc>
              <a:spcBef>
                <a:spcPct val="0"/>
              </a:spcBef>
              <a:spcAft>
                <a:spcPct val="0"/>
              </a:spcAft>
              <a:buFontTx/>
              <a:buChar char="•"/>
            </a:pPr>
            <a:r>
              <a:rPr lang="en-US" altLang="en-US" sz="3000" b="1" spc="-60" dirty="0">
                <a:solidFill>
                  <a:srgbClr val="F8F8F2"/>
                </a:solidFill>
                <a:latin typeface="Inclusive Sans"/>
                <a:cs typeface="Inclusive Sans"/>
              </a:rPr>
              <a:t>Separates Data from Design: </a:t>
            </a:r>
            <a:r>
              <a:rPr lang="en-US" altLang="en-US" sz="3000" spc="-60" dirty="0">
                <a:solidFill>
                  <a:srgbClr val="F8F8F2"/>
                </a:solidFill>
                <a:latin typeface="Inclusive Sans"/>
                <a:cs typeface="Inclusive Sans"/>
              </a:rPr>
              <a:t>It distinguishes what data you display from how relationships and patterns in data rather than relying on pre-defined chart types.</a:t>
            </a:r>
          </a:p>
          <a:p>
            <a:pPr lvl="0" eaLnBrk="0" fontAlgn="base" hangingPunct="0">
              <a:lnSpc>
                <a:spcPct val="150000"/>
              </a:lnSpc>
              <a:spcBef>
                <a:spcPct val="0"/>
              </a:spcBef>
              <a:spcAft>
                <a:spcPct val="0"/>
              </a:spcAft>
              <a:buFontTx/>
              <a:buChar char="•"/>
            </a:pPr>
            <a:r>
              <a:rPr lang="en-US" altLang="en-US" sz="3000" b="1" spc="-60" dirty="0">
                <a:solidFill>
                  <a:srgbClr val="F8F8F2"/>
                </a:solidFill>
                <a:latin typeface="Inclusive Sans"/>
                <a:cs typeface="Inclusive Sans"/>
              </a:rPr>
              <a:t>Ensures Consistency: </a:t>
            </a:r>
            <a:r>
              <a:rPr lang="en-US" altLang="en-US" sz="3000" spc="-60" dirty="0">
                <a:solidFill>
                  <a:srgbClr val="F8F8F2"/>
                </a:solidFill>
                <a:latin typeface="Inclusive Sans"/>
                <a:cs typeface="Inclusive Sans"/>
              </a:rPr>
              <a:t>All plots follow the same logical rules, improving  display it, making visualizations flexible and modular.</a:t>
            </a:r>
          </a:p>
          <a:p>
            <a:pPr lvl="0" eaLnBrk="0" fontAlgn="base" hangingPunct="0">
              <a:lnSpc>
                <a:spcPct val="150000"/>
              </a:lnSpc>
              <a:spcBef>
                <a:spcPct val="0"/>
              </a:spcBef>
              <a:spcAft>
                <a:spcPct val="0"/>
              </a:spcAft>
              <a:buFontTx/>
              <a:buChar char="•"/>
            </a:pPr>
            <a:r>
              <a:rPr lang="en-US" altLang="en-US" sz="3000" b="1" spc="-60" dirty="0">
                <a:solidFill>
                  <a:srgbClr val="F8F8F2"/>
                </a:solidFill>
                <a:latin typeface="Inclusive Sans"/>
                <a:cs typeface="Inclusive Sans"/>
              </a:rPr>
              <a:t>Encourages Analytical Thinking:</a:t>
            </a:r>
            <a:r>
              <a:rPr lang="en-US" altLang="en-US" sz="3000" spc="-60" dirty="0">
                <a:solidFill>
                  <a:srgbClr val="F8F8F2"/>
                </a:solidFill>
                <a:latin typeface="Inclusive Sans"/>
                <a:cs typeface="Inclusive Sans"/>
              </a:rPr>
              <a:t> It focuses on visualizing clarity, reproducibility, and professional presentation.</a:t>
            </a:r>
          </a:p>
          <a:p>
            <a:pPr lvl="0" eaLnBrk="0" fontAlgn="base" hangingPunct="0">
              <a:lnSpc>
                <a:spcPct val="150000"/>
              </a:lnSpc>
              <a:spcBef>
                <a:spcPct val="0"/>
              </a:spcBef>
              <a:spcAft>
                <a:spcPct val="0"/>
              </a:spcAft>
              <a:buFontTx/>
              <a:buChar char="•"/>
            </a:pPr>
            <a:r>
              <a:rPr lang="en-US" altLang="en-US" sz="3000" b="1" spc="-60" dirty="0">
                <a:solidFill>
                  <a:srgbClr val="F8F8F2"/>
                </a:solidFill>
                <a:latin typeface="Inclusive Sans"/>
                <a:cs typeface="Inclusive Sans"/>
              </a:rPr>
              <a:t>Foundation for Modern Tools: </a:t>
            </a:r>
            <a:r>
              <a:rPr lang="en-US" altLang="en-US" sz="3000" spc="-60" dirty="0">
                <a:solidFill>
                  <a:srgbClr val="F8F8F2"/>
                </a:solidFill>
                <a:latin typeface="Inclusive Sans"/>
                <a:cs typeface="Inclusive Sans"/>
              </a:rPr>
              <a:t>It powers leading visualization libraries like ggplot2, plotnine, and tools such as Tableau, making it central to modern data visualization practice.</a:t>
            </a:r>
          </a:p>
          <a:p>
            <a:pPr>
              <a:lnSpc>
                <a:spcPts val="3600"/>
              </a:lnSpc>
            </a:pPr>
            <a:endParaRPr lang="en-US" sz="3000" spc="-60" dirty="0">
              <a:solidFill>
                <a:srgbClr val="F8F8F2"/>
              </a:solidFill>
              <a:latin typeface="Inclusive Sans"/>
              <a:cs typeface="Inclusive Sans"/>
            </a:endParaRPr>
          </a:p>
          <a:p>
            <a:pPr>
              <a:lnSpc>
                <a:spcPts val="3600"/>
              </a:lnSpc>
            </a:pPr>
            <a:endParaRPr lang="en-US" sz="3000" spc="-60" dirty="0">
              <a:solidFill>
                <a:srgbClr val="F8F8F2"/>
              </a:solidFill>
              <a:latin typeface="Inclusive Sans"/>
              <a:cs typeface="Inclusive Sans"/>
            </a:endParaRPr>
          </a:p>
          <a:p>
            <a:pPr>
              <a:lnSpc>
                <a:spcPts val="3600"/>
              </a:lnSpc>
            </a:pPr>
            <a:endParaRPr lang="en-US" sz="3000" spc="-60" dirty="0">
              <a:solidFill>
                <a:srgbClr val="F8F8F2"/>
              </a:solidFill>
              <a:latin typeface="Inclusive Sans"/>
              <a:cs typeface="Inclusive Sans"/>
            </a:endParaRPr>
          </a:p>
          <a:p>
            <a:pPr>
              <a:lnSpc>
                <a:spcPts val="3600"/>
              </a:lnSpc>
            </a:pPr>
            <a:endParaRPr lang="en-US" sz="3000" spc="-60" dirty="0">
              <a:solidFill>
                <a:srgbClr val="F8F8F2"/>
              </a:solidFill>
              <a:latin typeface="Inclusive Sans"/>
              <a:cs typeface="Inclusive Sans"/>
            </a:endParaRPr>
          </a:p>
        </p:txBody>
      </p:sp>
      <p:sp>
        <p:nvSpPr>
          <p:cNvPr id="14" name="TextBox 14"/>
          <p:cNvSpPr txBox="1"/>
          <p:nvPr/>
        </p:nvSpPr>
        <p:spPr>
          <a:xfrm>
            <a:off x="561975" y="670969"/>
            <a:ext cx="17164050" cy="1084912"/>
          </a:xfrm>
          <a:prstGeom prst="rect">
            <a:avLst/>
          </a:prstGeom>
        </p:spPr>
        <p:txBody>
          <a:bodyPr wrap="square" lIns="0" tIns="0" rIns="0" bIns="0" rtlCol="0" anchor="t">
            <a:spAutoFit/>
          </a:bodyPr>
          <a:lstStyle/>
          <a:p>
            <a:pPr marL="0" lvl="0" indent="0" algn="l">
              <a:lnSpc>
                <a:spcPts val="8381"/>
              </a:lnSpc>
            </a:pPr>
            <a:r>
              <a:rPr lang="en-US" sz="7200" dirty="0">
                <a:solidFill>
                  <a:srgbClr val="50FA7B"/>
                </a:solidFill>
                <a:latin typeface="Lovelace Text"/>
                <a:ea typeface="Lovelace Text"/>
                <a:cs typeface="Lovelace Text"/>
                <a:sym typeface="Lovelace Text"/>
              </a:rPr>
              <a:t>Why Grammar of Graphics Matters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E1E2F"/>
        </a:solidFill>
        <a:effectLst/>
      </p:bgPr>
    </p:bg>
    <p:spTree>
      <p:nvGrpSpPr>
        <p:cNvPr id="1" name=""/>
        <p:cNvGrpSpPr/>
        <p:nvPr/>
      </p:nvGrpSpPr>
      <p:grpSpPr>
        <a:xfrm>
          <a:off x="0" y="0"/>
          <a:ext cx="0" cy="0"/>
          <a:chOff x="0" y="0"/>
          <a:chExt cx="0" cy="0"/>
        </a:xfrm>
      </p:grpSpPr>
      <p:sp>
        <p:nvSpPr>
          <p:cNvPr id="3" name="TextBox 3"/>
          <p:cNvSpPr txBox="1"/>
          <p:nvPr/>
        </p:nvSpPr>
        <p:spPr>
          <a:xfrm>
            <a:off x="1066800" y="4686300"/>
            <a:ext cx="9763125" cy="1211870"/>
          </a:xfrm>
          <a:prstGeom prst="rect">
            <a:avLst/>
          </a:prstGeom>
        </p:spPr>
        <p:txBody>
          <a:bodyPr lIns="0" tIns="0" rIns="0" bIns="0" rtlCol="0" anchor="t">
            <a:spAutoFit/>
          </a:bodyPr>
          <a:lstStyle/>
          <a:p>
            <a:pPr marL="0" lvl="0" indent="0" algn="l">
              <a:lnSpc>
                <a:spcPts val="9000"/>
              </a:lnSpc>
            </a:pPr>
            <a:r>
              <a:rPr lang="en-US" sz="9000" dirty="0">
                <a:solidFill>
                  <a:srgbClr val="F8F8F2"/>
                </a:solidFill>
                <a:latin typeface="Lovelace Text"/>
                <a:ea typeface="Lovelace Text"/>
                <a:cs typeface="Lovelace Text"/>
                <a:sym typeface="Lovelace Text"/>
              </a:rPr>
              <a:t>Thank you</a:t>
            </a:r>
          </a:p>
        </p:txBody>
      </p:sp>
      <p:grpSp>
        <p:nvGrpSpPr>
          <p:cNvPr id="4" name="Group 4"/>
          <p:cNvGrpSpPr/>
          <p:nvPr/>
        </p:nvGrpSpPr>
        <p:grpSpPr>
          <a:xfrm>
            <a:off x="11963400" y="32657"/>
            <a:ext cx="6115050" cy="10287000"/>
            <a:chOff x="0" y="0"/>
            <a:chExt cx="728435" cy="1225405"/>
          </a:xfrm>
        </p:grpSpPr>
        <p:sp>
          <p:nvSpPr>
            <p:cNvPr id="5" name="Freeform 5"/>
            <p:cNvSpPr/>
            <p:nvPr/>
          </p:nvSpPr>
          <p:spPr>
            <a:xfrm>
              <a:off x="0" y="0"/>
              <a:ext cx="728435" cy="1225405"/>
            </a:xfrm>
            <a:custGeom>
              <a:avLst/>
              <a:gdLst/>
              <a:ahLst/>
              <a:cxnLst/>
              <a:rect l="l" t="t" r="r" b="b"/>
              <a:pathLst>
                <a:path w="728435" h="1225405">
                  <a:moveTo>
                    <a:pt x="0" y="0"/>
                  </a:moveTo>
                  <a:lnTo>
                    <a:pt x="728435" y="0"/>
                  </a:lnTo>
                  <a:lnTo>
                    <a:pt x="728435" y="1225405"/>
                  </a:lnTo>
                  <a:lnTo>
                    <a:pt x="0" y="1225405"/>
                  </a:lnTo>
                  <a:close/>
                </a:path>
              </a:pathLst>
            </a:custGeom>
            <a:blipFill>
              <a:blip r:embed="rId2"/>
              <a:stretch>
                <a:fillRect t="-58" b="-58"/>
              </a:stretch>
            </a:blipFill>
          </p:spPr>
          <p:txBody>
            <a:bodyPr/>
            <a:lstStyle/>
            <a:p>
              <a:endParaRPr lang="en-US" dirty="0"/>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97</TotalTime>
  <Words>796</Words>
  <Application>Microsoft Macintosh PowerPoint</Application>
  <PresentationFormat>Custom</PresentationFormat>
  <Paragraphs>84</Paragraphs>
  <Slides>11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Inclusive Sans</vt:lpstr>
      <vt:lpstr>Lovelace Text Bold</vt:lpstr>
      <vt:lpstr>Lovelace Text</vt:lpstr>
      <vt:lpstr>Calibri</vt:lpstr>
      <vt:lpstr>Aptos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 Python Libraries</dc:title>
  <dc:description>Presentation - Python Libraries</dc:description>
  <cp:lastModifiedBy>SUNDEEP RAVI</cp:lastModifiedBy>
  <cp:revision>2</cp:revision>
  <dcterms:created xsi:type="dcterms:W3CDTF">2006-08-16T00:00:00Z</dcterms:created>
  <dcterms:modified xsi:type="dcterms:W3CDTF">2025-11-10T18:28:29Z</dcterms:modified>
  <dc:identifier>DAG4UM8Q20U</dc:identifier>
</cp:coreProperties>
</file>