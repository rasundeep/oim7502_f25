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67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16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B465F9-3B9C-47C3-9535-208DA872A15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0E41427-AE9E-4A17-B477-6B4D75E5CDC4}">
      <dgm:prSet/>
      <dgm:spPr/>
      <dgm:t>
        <a:bodyPr/>
        <a:lstStyle/>
        <a:p>
          <a:r>
            <a:rPr lang="en-US"/>
            <a:t>Aesthetic mappings describe how data variables map to visual properties.</a:t>
          </a:r>
        </a:p>
      </dgm:t>
    </dgm:pt>
    <dgm:pt modelId="{D603CD85-E194-4D7C-9172-38033B43E036}" type="parTrans" cxnId="{2F243AFE-6CEB-4B41-B9B7-774A2C3B47C4}">
      <dgm:prSet/>
      <dgm:spPr/>
      <dgm:t>
        <a:bodyPr/>
        <a:lstStyle/>
        <a:p>
          <a:endParaRPr lang="en-US"/>
        </a:p>
      </dgm:t>
    </dgm:pt>
    <dgm:pt modelId="{194CA9F6-BF53-4C56-B033-8781D7B43FFB}" type="sibTrans" cxnId="{2F243AFE-6CEB-4B41-B9B7-774A2C3B47C4}">
      <dgm:prSet/>
      <dgm:spPr/>
      <dgm:t>
        <a:bodyPr/>
        <a:lstStyle/>
        <a:p>
          <a:endParaRPr lang="en-US"/>
        </a:p>
      </dgm:t>
    </dgm:pt>
    <dgm:pt modelId="{7BA01237-FB3D-4946-9B8B-80C3E383C749}">
      <dgm:prSet/>
      <dgm:spPr/>
      <dgm:t>
        <a:bodyPr/>
        <a:lstStyle/>
        <a:p>
          <a:r>
            <a:rPr lang="en-US"/>
            <a:t>Common aesthetics: x, y, color, size, shape, fill.</a:t>
          </a:r>
        </a:p>
      </dgm:t>
    </dgm:pt>
    <dgm:pt modelId="{CF3EBFA9-3D5D-417C-8A92-BA5BBD9F94FC}" type="parTrans" cxnId="{6F2A4781-08F8-4124-B7B6-359E2561CF9C}">
      <dgm:prSet/>
      <dgm:spPr/>
      <dgm:t>
        <a:bodyPr/>
        <a:lstStyle/>
        <a:p>
          <a:endParaRPr lang="en-US"/>
        </a:p>
      </dgm:t>
    </dgm:pt>
    <dgm:pt modelId="{0E1B3924-38EF-4EE7-AC55-A88861C23BAE}" type="sibTrans" cxnId="{6F2A4781-08F8-4124-B7B6-359E2561CF9C}">
      <dgm:prSet/>
      <dgm:spPr/>
      <dgm:t>
        <a:bodyPr/>
        <a:lstStyle/>
        <a:p>
          <a:endParaRPr lang="en-US"/>
        </a:p>
      </dgm:t>
    </dgm:pt>
    <dgm:pt modelId="{2C2F919B-9411-4A53-A760-5D18B5E3FBDB}">
      <dgm:prSet/>
      <dgm:spPr/>
      <dgm:t>
        <a:bodyPr/>
        <a:lstStyle/>
        <a:p>
          <a:r>
            <a:rPr lang="en-US"/>
            <a:t>Example:</a:t>
          </a:r>
        </a:p>
      </dgm:t>
    </dgm:pt>
    <dgm:pt modelId="{C6358281-70C2-4A2E-8B5E-CB19500DFD9F}" type="parTrans" cxnId="{2B612132-C014-4A60-AB3A-0C2B1C510C19}">
      <dgm:prSet/>
      <dgm:spPr/>
      <dgm:t>
        <a:bodyPr/>
        <a:lstStyle/>
        <a:p>
          <a:endParaRPr lang="en-US"/>
        </a:p>
      </dgm:t>
    </dgm:pt>
    <dgm:pt modelId="{C8807B27-FA92-4F61-B484-F5CF35266375}" type="sibTrans" cxnId="{2B612132-C014-4A60-AB3A-0C2B1C510C19}">
      <dgm:prSet/>
      <dgm:spPr/>
      <dgm:t>
        <a:bodyPr/>
        <a:lstStyle/>
        <a:p>
          <a:endParaRPr lang="en-US"/>
        </a:p>
      </dgm:t>
    </dgm:pt>
    <dgm:pt modelId="{D956010A-35C1-403B-8040-B87FA3479720}">
      <dgm:prSet/>
      <dgm:spPr/>
      <dgm:t>
        <a:bodyPr/>
        <a:lstStyle/>
        <a:p>
          <a:r>
            <a:rPr lang="en-US" dirty="0" err="1"/>
            <a:t>ggplot</a:t>
          </a:r>
          <a:r>
            <a:rPr lang="en-US" dirty="0"/>
            <a:t>(</a:t>
          </a:r>
          <a:r>
            <a:rPr lang="en-US" dirty="0" err="1"/>
            <a:t>df</a:t>
          </a:r>
          <a:r>
            <a:rPr lang="en-US" dirty="0"/>
            <a:t>) + </a:t>
          </a:r>
          <a:r>
            <a:rPr lang="en-US" dirty="0" err="1"/>
            <a:t>aes</a:t>
          </a:r>
          <a:r>
            <a:rPr lang="en-US" dirty="0"/>
            <a:t>(x='RM', y='MEDV')</a:t>
          </a:r>
        </a:p>
      </dgm:t>
    </dgm:pt>
    <dgm:pt modelId="{E6F1E71D-14F7-4165-BB2C-FFEAE83747F7}" type="parTrans" cxnId="{34406141-98FB-493C-9AB8-D4A400A6383E}">
      <dgm:prSet/>
      <dgm:spPr/>
      <dgm:t>
        <a:bodyPr/>
        <a:lstStyle/>
        <a:p>
          <a:endParaRPr lang="en-US"/>
        </a:p>
      </dgm:t>
    </dgm:pt>
    <dgm:pt modelId="{C271D84B-55B5-4747-ADE1-106F5915C3C9}" type="sibTrans" cxnId="{34406141-98FB-493C-9AB8-D4A400A6383E}">
      <dgm:prSet/>
      <dgm:spPr/>
      <dgm:t>
        <a:bodyPr/>
        <a:lstStyle/>
        <a:p>
          <a:endParaRPr lang="en-US"/>
        </a:p>
      </dgm:t>
    </dgm:pt>
    <dgm:pt modelId="{F0BF641B-E339-45C8-A517-6BFECF3FCF69}">
      <dgm:prSet/>
      <dgm:spPr/>
      <dgm:t>
        <a:bodyPr/>
        <a:lstStyle/>
        <a:p>
          <a:r>
            <a:rPr lang="en-US" dirty="0"/>
            <a:t>Links average number of rooms to median home value.</a:t>
          </a:r>
        </a:p>
      </dgm:t>
    </dgm:pt>
    <dgm:pt modelId="{6B354ED3-C600-4909-92F4-572FE005AC5F}" type="parTrans" cxnId="{5A3A8CE5-3154-4AB7-BB01-D4524FF83FBD}">
      <dgm:prSet/>
      <dgm:spPr/>
      <dgm:t>
        <a:bodyPr/>
        <a:lstStyle/>
        <a:p>
          <a:endParaRPr lang="en-US"/>
        </a:p>
      </dgm:t>
    </dgm:pt>
    <dgm:pt modelId="{D049C586-75B0-4B21-8ADA-7370CB65D8EF}" type="sibTrans" cxnId="{5A3A8CE5-3154-4AB7-BB01-D4524FF83FBD}">
      <dgm:prSet/>
      <dgm:spPr/>
      <dgm:t>
        <a:bodyPr/>
        <a:lstStyle/>
        <a:p>
          <a:endParaRPr lang="en-US"/>
        </a:p>
      </dgm:t>
    </dgm:pt>
    <dgm:pt modelId="{510D4454-919F-42B1-8FDE-ECDC159BC838}" type="pres">
      <dgm:prSet presAssocID="{2FB465F9-3B9C-47C3-9535-208DA872A151}" presName="root" presStyleCnt="0">
        <dgm:presLayoutVars>
          <dgm:dir/>
          <dgm:resizeHandles val="exact"/>
        </dgm:presLayoutVars>
      </dgm:prSet>
      <dgm:spPr/>
    </dgm:pt>
    <dgm:pt modelId="{1929637E-8F09-4655-A574-A37CF4696811}" type="pres">
      <dgm:prSet presAssocID="{30E41427-AE9E-4A17-B477-6B4D75E5CDC4}" presName="compNode" presStyleCnt="0"/>
      <dgm:spPr/>
    </dgm:pt>
    <dgm:pt modelId="{4DAE5E22-06B6-4B89-AFA8-FFA8B64F8284}" type="pres">
      <dgm:prSet presAssocID="{30E41427-AE9E-4A17-B477-6B4D75E5CDC4}" presName="bgRect" presStyleLbl="bgShp" presStyleIdx="0" presStyleCnt="3"/>
      <dgm:spPr/>
    </dgm:pt>
    <dgm:pt modelId="{F5114C24-1589-4A4A-A12C-F0A2A21B16AE}" type="pres">
      <dgm:prSet presAssocID="{30E41427-AE9E-4A17-B477-6B4D75E5CDC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C4E023DF-E28B-40F5-A336-A14BE579C174}" type="pres">
      <dgm:prSet presAssocID="{30E41427-AE9E-4A17-B477-6B4D75E5CDC4}" presName="spaceRect" presStyleCnt="0"/>
      <dgm:spPr/>
    </dgm:pt>
    <dgm:pt modelId="{DFA58D30-9D90-4696-864E-B5D73B7FE053}" type="pres">
      <dgm:prSet presAssocID="{30E41427-AE9E-4A17-B477-6B4D75E5CDC4}" presName="parTx" presStyleLbl="revTx" presStyleIdx="0" presStyleCnt="4">
        <dgm:presLayoutVars>
          <dgm:chMax val="0"/>
          <dgm:chPref val="0"/>
        </dgm:presLayoutVars>
      </dgm:prSet>
      <dgm:spPr/>
    </dgm:pt>
    <dgm:pt modelId="{499A2AD4-15FF-4007-BB8A-23B929BB45D1}" type="pres">
      <dgm:prSet presAssocID="{194CA9F6-BF53-4C56-B033-8781D7B43FFB}" presName="sibTrans" presStyleCnt="0"/>
      <dgm:spPr/>
    </dgm:pt>
    <dgm:pt modelId="{BFBAC641-1658-45DA-B9EA-5C2937D075A5}" type="pres">
      <dgm:prSet presAssocID="{7BA01237-FB3D-4946-9B8B-80C3E383C749}" presName="compNode" presStyleCnt="0"/>
      <dgm:spPr/>
    </dgm:pt>
    <dgm:pt modelId="{2720D731-5957-4FF3-A0CC-AE8583019035}" type="pres">
      <dgm:prSet presAssocID="{7BA01237-FB3D-4946-9B8B-80C3E383C749}" presName="bgRect" presStyleLbl="bgShp" presStyleIdx="1" presStyleCnt="3"/>
      <dgm:spPr/>
    </dgm:pt>
    <dgm:pt modelId="{7AE113F3-9853-4253-A14A-CD26D40DF240}" type="pres">
      <dgm:prSet presAssocID="{7BA01237-FB3D-4946-9B8B-80C3E383C7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2925C179-6B92-4DDA-907D-311BEA01C288}" type="pres">
      <dgm:prSet presAssocID="{7BA01237-FB3D-4946-9B8B-80C3E383C749}" presName="spaceRect" presStyleCnt="0"/>
      <dgm:spPr/>
    </dgm:pt>
    <dgm:pt modelId="{D57B184A-4861-4560-9439-2A80FCD9619D}" type="pres">
      <dgm:prSet presAssocID="{7BA01237-FB3D-4946-9B8B-80C3E383C749}" presName="parTx" presStyleLbl="revTx" presStyleIdx="1" presStyleCnt="4">
        <dgm:presLayoutVars>
          <dgm:chMax val="0"/>
          <dgm:chPref val="0"/>
        </dgm:presLayoutVars>
      </dgm:prSet>
      <dgm:spPr/>
    </dgm:pt>
    <dgm:pt modelId="{A844925C-6A69-49D1-9633-F2909E539FA1}" type="pres">
      <dgm:prSet presAssocID="{0E1B3924-38EF-4EE7-AC55-A88861C23BAE}" presName="sibTrans" presStyleCnt="0"/>
      <dgm:spPr/>
    </dgm:pt>
    <dgm:pt modelId="{6F6CB214-B19D-428F-9B39-0CE8033CDEC2}" type="pres">
      <dgm:prSet presAssocID="{2C2F919B-9411-4A53-A760-5D18B5E3FBDB}" presName="compNode" presStyleCnt="0"/>
      <dgm:spPr/>
    </dgm:pt>
    <dgm:pt modelId="{624125C9-FAC7-45DC-8D25-C64F8CD00A8F}" type="pres">
      <dgm:prSet presAssocID="{2C2F919B-9411-4A53-A760-5D18B5E3FBDB}" presName="bgRect" presStyleLbl="bgShp" presStyleIdx="2" presStyleCnt="3"/>
      <dgm:spPr/>
    </dgm:pt>
    <dgm:pt modelId="{AEC60824-F0A0-43B8-945C-E1A2F868534C}" type="pres">
      <dgm:prSet presAssocID="{2C2F919B-9411-4A53-A760-5D18B5E3FBD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957E85D-669C-4B42-89F8-55298997928C}" type="pres">
      <dgm:prSet presAssocID="{2C2F919B-9411-4A53-A760-5D18B5E3FBDB}" presName="spaceRect" presStyleCnt="0"/>
      <dgm:spPr/>
    </dgm:pt>
    <dgm:pt modelId="{FEC70F76-735D-490F-8C2C-A0B09C14214C}" type="pres">
      <dgm:prSet presAssocID="{2C2F919B-9411-4A53-A760-5D18B5E3FBDB}" presName="parTx" presStyleLbl="revTx" presStyleIdx="2" presStyleCnt="4">
        <dgm:presLayoutVars>
          <dgm:chMax val="0"/>
          <dgm:chPref val="0"/>
        </dgm:presLayoutVars>
      </dgm:prSet>
      <dgm:spPr/>
    </dgm:pt>
    <dgm:pt modelId="{9062FB99-FD80-4B26-9D07-8E83F6128DDD}" type="pres">
      <dgm:prSet presAssocID="{2C2F919B-9411-4A53-A760-5D18B5E3FBDB}" presName="desTx" presStyleLbl="revTx" presStyleIdx="3" presStyleCnt="4" custScaleX="181328" custLinFactNeighborX="-34111" custLinFactNeighborY="-310">
        <dgm:presLayoutVars/>
      </dgm:prSet>
      <dgm:spPr/>
    </dgm:pt>
  </dgm:ptLst>
  <dgm:cxnLst>
    <dgm:cxn modelId="{D9A43B1C-4D87-42FA-90FC-684061526720}" type="presOf" srcId="{D956010A-35C1-403B-8040-B87FA3479720}" destId="{9062FB99-FD80-4B26-9D07-8E83F6128DDD}" srcOrd="0" destOrd="0" presId="urn:microsoft.com/office/officeart/2018/2/layout/IconVerticalSolidList"/>
    <dgm:cxn modelId="{2B612132-C014-4A60-AB3A-0C2B1C510C19}" srcId="{2FB465F9-3B9C-47C3-9535-208DA872A151}" destId="{2C2F919B-9411-4A53-A760-5D18B5E3FBDB}" srcOrd="2" destOrd="0" parTransId="{C6358281-70C2-4A2E-8B5E-CB19500DFD9F}" sibTransId="{C8807B27-FA92-4F61-B484-F5CF35266375}"/>
    <dgm:cxn modelId="{34406141-98FB-493C-9AB8-D4A400A6383E}" srcId="{2C2F919B-9411-4A53-A760-5D18B5E3FBDB}" destId="{D956010A-35C1-403B-8040-B87FA3479720}" srcOrd="0" destOrd="0" parTransId="{E6F1E71D-14F7-4165-BB2C-FFEAE83747F7}" sibTransId="{C271D84B-55B5-4747-ADE1-106F5915C3C9}"/>
    <dgm:cxn modelId="{BF90FB4D-D847-4F23-B8AB-F61FED5427FA}" type="presOf" srcId="{30E41427-AE9E-4A17-B477-6B4D75E5CDC4}" destId="{DFA58D30-9D90-4696-864E-B5D73B7FE053}" srcOrd="0" destOrd="0" presId="urn:microsoft.com/office/officeart/2018/2/layout/IconVerticalSolidList"/>
    <dgm:cxn modelId="{C782EC67-7C37-4374-A9CF-1DC2107837D2}" type="presOf" srcId="{F0BF641B-E339-45C8-A517-6BFECF3FCF69}" destId="{9062FB99-FD80-4B26-9D07-8E83F6128DDD}" srcOrd="0" destOrd="1" presId="urn:microsoft.com/office/officeart/2018/2/layout/IconVerticalSolidList"/>
    <dgm:cxn modelId="{0FF2C379-1474-4A5C-A428-4ECFA905BAB7}" type="presOf" srcId="{2FB465F9-3B9C-47C3-9535-208DA872A151}" destId="{510D4454-919F-42B1-8FDE-ECDC159BC838}" srcOrd="0" destOrd="0" presId="urn:microsoft.com/office/officeart/2018/2/layout/IconVerticalSolidList"/>
    <dgm:cxn modelId="{6F2A4781-08F8-4124-B7B6-359E2561CF9C}" srcId="{2FB465F9-3B9C-47C3-9535-208DA872A151}" destId="{7BA01237-FB3D-4946-9B8B-80C3E383C749}" srcOrd="1" destOrd="0" parTransId="{CF3EBFA9-3D5D-417C-8A92-BA5BBD9F94FC}" sibTransId="{0E1B3924-38EF-4EE7-AC55-A88861C23BAE}"/>
    <dgm:cxn modelId="{49A007D9-F796-462F-9B5A-59A621A4E298}" type="presOf" srcId="{7BA01237-FB3D-4946-9B8B-80C3E383C749}" destId="{D57B184A-4861-4560-9439-2A80FCD9619D}" srcOrd="0" destOrd="0" presId="urn:microsoft.com/office/officeart/2018/2/layout/IconVerticalSolidList"/>
    <dgm:cxn modelId="{5A3A8CE5-3154-4AB7-BB01-D4524FF83FBD}" srcId="{2C2F919B-9411-4A53-A760-5D18B5E3FBDB}" destId="{F0BF641B-E339-45C8-A517-6BFECF3FCF69}" srcOrd="1" destOrd="0" parTransId="{6B354ED3-C600-4909-92F4-572FE005AC5F}" sibTransId="{D049C586-75B0-4B21-8ADA-7370CB65D8EF}"/>
    <dgm:cxn modelId="{62EE7DF0-08E0-4430-98B9-6EC72A2D7764}" type="presOf" srcId="{2C2F919B-9411-4A53-A760-5D18B5E3FBDB}" destId="{FEC70F76-735D-490F-8C2C-A0B09C14214C}" srcOrd="0" destOrd="0" presId="urn:microsoft.com/office/officeart/2018/2/layout/IconVerticalSolidList"/>
    <dgm:cxn modelId="{2F243AFE-6CEB-4B41-B9B7-774A2C3B47C4}" srcId="{2FB465F9-3B9C-47C3-9535-208DA872A151}" destId="{30E41427-AE9E-4A17-B477-6B4D75E5CDC4}" srcOrd="0" destOrd="0" parTransId="{D603CD85-E194-4D7C-9172-38033B43E036}" sibTransId="{194CA9F6-BF53-4C56-B033-8781D7B43FFB}"/>
    <dgm:cxn modelId="{AB621EB9-86C1-4698-A926-F51766EE38BB}" type="presParOf" srcId="{510D4454-919F-42B1-8FDE-ECDC159BC838}" destId="{1929637E-8F09-4655-A574-A37CF4696811}" srcOrd="0" destOrd="0" presId="urn:microsoft.com/office/officeart/2018/2/layout/IconVerticalSolidList"/>
    <dgm:cxn modelId="{2FDE9DCB-14DD-4314-849D-E138651BA6EC}" type="presParOf" srcId="{1929637E-8F09-4655-A574-A37CF4696811}" destId="{4DAE5E22-06B6-4B89-AFA8-FFA8B64F8284}" srcOrd="0" destOrd="0" presId="urn:microsoft.com/office/officeart/2018/2/layout/IconVerticalSolidList"/>
    <dgm:cxn modelId="{8BFC14C1-8C0B-45DF-830C-43172C48E21B}" type="presParOf" srcId="{1929637E-8F09-4655-A574-A37CF4696811}" destId="{F5114C24-1589-4A4A-A12C-F0A2A21B16AE}" srcOrd="1" destOrd="0" presId="urn:microsoft.com/office/officeart/2018/2/layout/IconVerticalSolidList"/>
    <dgm:cxn modelId="{544F6EF8-7CB8-49AA-BEBA-297AA3B63977}" type="presParOf" srcId="{1929637E-8F09-4655-A574-A37CF4696811}" destId="{C4E023DF-E28B-40F5-A336-A14BE579C174}" srcOrd="2" destOrd="0" presId="urn:microsoft.com/office/officeart/2018/2/layout/IconVerticalSolidList"/>
    <dgm:cxn modelId="{CA245C91-7209-4298-A0F1-D6EB4F4D50A2}" type="presParOf" srcId="{1929637E-8F09-4655-A574-A37CF4696811}" destId="{DFA58D30-9D90-4696-864E-B5D73B7FE053}" srcOrd="3" destOrd="0" presId="urn:microsoft.com/office/officeart/2018/2/layout/IconVerticalSolidList"/>
    <dgm:cxn modelId="{B24C7115-1A34-43FC-8C75-FFE603E0F861}" type="presParOf" srcId="{510D4454-919F-42B1-8FDE-ECDC159BC838}" destId="{499A2AD4-15FF-4007-BB8A-23B929BB45D1}" srcOrd="1" destOrd="0" presId="urn:microsoft.com/office/officeart/2018/2/layout/IconVerticalSolidList"/>
    <dgm:cxn modelId="{F830F8EF-4BEE-4505-A23C-5CE35E03845E}" type="presParOf" srcId="{510D4454-919F-42B1-8FDE-ECDC159BC838}" destId="{BFBAC641-1658-45DA-B9EA-5C2937D075A5}" srcOrd="2" destOrd="0" presId="urn:microsoft.com/office/officeart/2018/2/layout/IconVerticalSolidList"/>
    <dgm:cxn modelId="{6039ABFD-0043-4E83-962F-85CD1C2CF1BA}" type="presParOf" srcId="{BFBAC641-1658-45DA-B9EA-5C2937D075A5}" destId="{2720D731-5957-4FF3-A0CC-AE8583019035}" srcOrd="0" destOrd="0" presId="urn:microsoft.com/office/officeart/2018/2/layout/IconVerticalSolidList"/>
    <dgm:cxn modelId="{A9139574-22F1-458D-9099-61ABB2728D78}" type="presParOf" srcId="{BFBAC641-1658-45DA-B9EA-5C2937D075A5}" destId="{7AE113F3-9853-4253-A14A-CD26D40DF240}" srcOrd="1" destOrd="0" presId="urn:microsoft.com/office/officeart/2018/2/layout/IconVerticalSolidList"/>
    <dgm:cxn modelId="{6A3DD34C-A59F-4C19-8EE6-0E53FEACF07B}" type="presParOf" srcId="{BFBAC641-1658-45DA-B9EA-5C2937D075A5}" destId="{2925C179-6B92-4DDA-907D-311BEA01C288}" srcOrd="2" destOrd="0" presId="urn:microsoft.com/office/officeart/2018/2/layout/IconVerticalSolidList"/>
    <dgm:cxn modelId="{AB261428-1607-466D-B831-9AB4F1C0038D}" type="presParOf" srcId="{BFBAC641-1658-45DA-B9EA-5C2937D075A5}" destId="{D57B184A-4861-4560-9439-2A80FCD9619D}" srcOrd="3" destOrd="0" presId="urn:microsoft.com/office/officeart/2018/2/layout/IconVerticalSolidList"/>
    <dgm:cxn modelId="{93854503-09E0-4B04-881D-3580C24CF91E}" type="presParOf" srcId="{510D4454-919F-42B1-8FDE-ECDC159BC838}" destId="{A844925C-6A69-49D1-9633-F2909E539FA1}" srcOrd="3" destOrd="0" presId="urn:microsoft.com/office/officeart/2018/2/layout/IconVerticalSolidList"/>
    <dgm:cxn modelId="{715416FF-FD8A-4D8F-A71C-97556C1039C0}" type="presParOf" srcId="{510D4454-919F-42B1-8FDE-ECDC159BC838}" destId="{6F6CB214-B19D-428F-9B39-0CE8033CDEC2}" srcOrd="4" destOrd="0" presId="urn:microsoft.com/office/officeart/2018/2/layout/IconVerticalSolidList"/>
    <dgm:cxn modelId="{2151FFB9-192A-463F-A102-384AC509124B}" type="presParOf" srcId="{6F6CB214-B19D-428F-9B39-0CE8033CDEC2}" destId="{624125C9-FAC7-45DC-8D25-C64F8CD00A8F}" srcOrd="0" destOrd="0" presId="urn:microsoft.com/office/officeart/2018/2/layout/IconVerticalSolidList"/>
    <dgm:cxn modelId="{986650EC-4AB4-4F23-ADC8-84B724F6893B}" type="presParOf" srcId="{6F6CB214-B19D-428F-9B39-0CE8033CDEC2}" destId="{AEC60824-F0A0-43B8-945C-E1A2F868534C}" srcOrd="1" destOrd="0" presId="urn:microsoft.com/office/officeart/2018/2/layout/IconVerticalSolidList"/>
    <dgm:cxn modelId="{1D0F35AB-9521-4CF8-8B64-0334BA9BB806}" type="presParOf" srcId="{6F6CB214-B19D-428F-9B39-0CE8033CDEC2}" destId="{2957E85D-669C-4B42-89F8-55298997928C}" srcOrd="2" destOrd="0" presId="urn:microsoft.com/office/officeart/2018/2/layout/IconVerticalSolidList"/>
    <dgm:cxn modelId="{D899B64D-1525-4754-BC28-C896BA326061}" type="presParOf" srcId="{6F6CB214-B19D-428F-9B39-0CE8033CDEC2}" destId="{FEC70F76-735D-490F-8C2C-A0B09C14214C}" srcOrd="3" destOrd="0" presId="urn:microsoft.com/office/officeart/2018/2/layout/IconVerticalSolidList"/>
    <dgm:cxn modelId="{4F85802A-8C47-42EC-9046-4B9538BBB36A}" type="presParOf" srcId="{6F6CB214-B19D-428F-9B39-0CE8033CDEC2}" destId="{9062FB99-FD80-4B26-9D07-8E83F6128DD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E5E22-06B6-4B89-AFA8-FFA8B64F8284}">
      <dsp:nvSpPr>
        <dsp:cNvPr id="0" name=""/>
        <dsp:cNvSpPr/>
      </dsp:nvSpPr>
      <dsp:spPr>
        <a:xfrm>
          <a:off x="-588522" y="6907"/>
          <a:ext cx="7886700" cy="12410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14C24-1589-4A4A-A12C-F0A2A21B16AE}">
      <dsp:nvSpPr>
        <dsp:cNvPr id="0" name=""/>
        <dsp:cNvSpPr/>
      </dsp:nvSpPr>
      <dsp:spPr>
        <a:xfrm>
          <a:off x="-213101" y="286145"/>
          <a:ext cx="682582" cy="6825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58D30-9D90-4696-864E-B5D73B7FE053}">
      <dsp:nvSpPr>
        <dsp:cNvPr id="0" name=""/>
        <dsp:cNvSpPr/>
      </dsp:nvSpPr>
      <dsp:spPr>
        <a:xfrm>
          <a:off x="844901" y="6907"/>
          <a:ext cx="6450472" cy="1241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346" tIns="131346" rIns="131346" bIns="13134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Aesthetic mappings describe how data variables map to visual properties.</a:t>
          </a:r>
        </a:p>
      </dsp:txBody>
      <dsp:txXfrm>
        <a:off x="844901" y="6907"/>
        <a:ext cx="6450472" cy="1241059"/>
      </dsp:txXfrm>
    </dsp:sp>
    <dsp:sp modelId="{2720D731-5957-4FF3-A0CC-AE8583019035}">
      <dsp:nvSpPr>
        <dsp:cNvPr id="0" name=""/>
        <dsp:cNvSpPr/>
      </dsp:nvSpPr>
      <dsp:spPr>
        <a:xfrm>
          <a:off x="-588522" y="1558232"/>
          <a:ext cx="7886700" cy="12410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E113F3-9853-4253-A14A-CD26D40DF240}">
      <dsp:nvSpPr>
        <dsp:cNvPr id="0" name=""/>
        <dsp:cNvSpPr/>
      </dsp:nvSpPr>
      <dsp:spPr>
        <a:xfrm>
          <a:off x="-213101" y="1837470"/>
          <a:ext cx="682582" cy="6825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B184A-4861-4560-9439-2A80FCD9619D}">
      <dsp:nvSpPr>
        <dsp:cNvPr id="0" name=""/>
        <dsp:cNvSpPr/>
      </dsp:nvSpPr>
      <dsp:spPr>
        <a:xfrm>
          <a:off x="844901" y="1558232"/>
          <a:ext cx="6450472" cy="1241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346" tIns="131346" rIns="131346" bIns="13134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Common aesthetics: x, y, color, size, shape, fill.</a:t>
          </a:r>
        </a:p>
      </dsp:txBody>
      <dsp:txXfrm>
        <a:off x="844901" y="1558232"/>
        <a:ext cx="6450472" cy="1241059"/>
      </dsp:txXfrm>
    </dsp:sp>
    <dsp:sp modelId="{624125C9-FAC7-45DC-8D25-C64F8CD00A8F}">
      <dsp:nvSpPr>
        <dsp:cNvPr id="0" name=""/>
        <dsp:cNvSpPr/>
      </dsp:nvSpPr>
      <dsp:spPr>
        <a:xfrm>
          <a:off x="-588522" y="3109556"/>
          <a:ext cx="7886700" cy="12410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60824-F0A0-43B8-945C-E1A2F868534C}">
      <dsp:nvSpPr>
        <dsp:cNvPr id="0" name=""/>
        <dsp:cNvSpPr/>
      </dsp:nvSpPr>
      <dsp:spPr>
        <a:xfrm>
          <a:off x="-213101" y="3388795"/>
          <a:ext cx="682582" cy="6825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70F76-735D-490F-8C2C-A0B09C14214C}">
      <dsp:nvSpPr>
        <dsp:cNvPr id="0" name=""/>
        <dsp:cNvSpPr/>
      </dsp:nvSpPr>
      <dsp:spPr>
        <a:xfrm>
          <a:off x="844901" y="3109556"/>
          <a:ext cx="3549015" cy="1241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346" tIns="131346" rIns="131346" bIns="13134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Example:</a:t>
          </a:r>
        </a:p>
      </dsp:txBody>
      <dsp:txXfrm>
        <a:off x="844901" y="3109556"/>
        <a:ext cx="3549015" cy="1241059"/>
      </dsp:txXfrm>
    </dsp:sp>
    <dsp:sp modelId="{9062FB99-FD80-4B26-9D07-8E83F6128DDD}">
      <dsp:nvSpPr>
        <dsp:cNvPr id="0" name=""/>
        <dsp:cNvSpPr/>
      </dsp:nvSpPr>
      <dsp:spPr>
        <a:xfrm>
          <a:off x="2224352" y="3105709"/>
          <a:ext cx="5261154" cy="1241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346" tIns="131346" rIns="131346" bIns="13134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ggplot</a:t>
          </a:r>
          <a:r>
            <a:rPr lang="en-US" sz="1500" kern="1200" dirty="0"/>
            <a:t>(</a:t>
          </a:r>
          <a:r>
            <a:rPr lang="en-US" sz="1500" kern="1200" dirty="0" err="1"/>
            <a:t>df</a:t>
          </a:r>
          <a:r>
            <a:rPr lang="en-US" sz="1500" kern="1200" dirty="0"/>
            <a:t>) + </a:t>
          </a:r>
          <a:r>
            <a:rPr lang="en-US" sz="1500" kern="1200" dirty="0" err="1"/>
            <a:t>aes</a:t>
          </a:r>
          <a:r>
            <a:rPr lang="en-US" sz="1500" kern="1200" dirty="0"/>
            <a:t>(x='RM', y='MEDV')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Links average number of rooms to median home value.</a:t>
          </a:r>
        </a:p>
      </dsp:txBody>
      <dsp:txXfrm>
        <a:off x="2224352" y="3105709"/>
        <a:ext cx="5261154" cy="12410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tock market graph on display">
            <a:extLst>
              <a:ext uri="{FF2B5EF4-FFF2-40B4-BE49-F238E27FC236}">
                <a16:creationId xmlns:a16="http://schemas.microsoft.com/office/drawing/2014/main" id="{C43351DE-49D1-322A-5F49-F2959D3DB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04" t="6484" r="20477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FCF016-C08B-4970-374A-84F07785F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/>
              <a:t>GG PLOT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F0B39-9D7D-8F24-41DA-50039546D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485" y="4872922"/>
            <a:ext cx="301751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>
                <a:solidFill>
                  <a:schemeClr val="tx1"/>
                </a:solidFill>
              </a:rPr>
              <a:t>SUNDEEP RAVICHANDER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68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 dirty="0"/>
              <a:t>What is </a:t>
            </a:r>
            <a:r>
              <a:rPr lang="en-US" sz="3500" dirty="0" err="1"/>
              <a:t>ggplot</a:t>
            </a:r>
            <a:r>
              <a:rPr lang="en-US" sz="35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 </a:t>
            </a:r>
            <a:r>
              <a:rPr lang="en-US" sz="2000" dirty="0" err="1"/>
              <a:t>GGplot</a:t>
            </a:r>
            <a:r>
              <a:rPr lang="en-US" sz="2000" dirty="0"/>
              <a:t> is a data visualization system based on the Grammar of Graphics.</a:t>
            </a:r>
          </a:p>
          <a:p>
            <a:r>
              <a:rPr lang="en-US" sz="2000" dirty="0" err="1"/>
              <a:t>Plotnine</a:t>
            </a:r>
            <a:r>
              <a:rPr lang="en-US" sz="2000" dirty="0"/>
              <a:t> is the Python implementation of ggplot2 from R.</a:t>
            </a:r>
          </a:p>
          <a:p>
            <a:r>
              <a:rPr lang="en-US" sz="2000" dirty="0"/>
              <a:t>Each layer adds a new component: data, aesthetics, </a:t>
            </a:r>
            <a:r>
              <a:rPr lang="en-US" sz="2000" dirty="0" err="1"/>
              <a:t>geoms</a:t>
            </a:r>
            <a:r>
              <a:rPr lang="en-US" sz="2000" dirty="0"/>
              <a:t>, stats, scales, coordinates, or facets.</a:t>
            </a:r>
          </a:p>
        </p:txBody>
      </p:sp>
      <p:pic>
        <p:nvPicPr>
          <p:cNvPr id="5" name="Picture 4" descr="Zigzag indicator line">
            <a:extLst>
              <a:ext uri="{FF2B5EF4-FFF2-40B4-BE49-F238E27FC236}">
                <a16:creationId xmlns:a16="http://schemas.microsoft.com/office/drawing/2014/main" id="{BA96921A-1469-2A6A-DB9C-6B3052667E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38" r="32985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The Grammar of Graphics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 dirty="0"/>
              <a:t> Introduced by Leland Wilkinson.</a:t>
            </a:r>
          </a:p>
          <a:p>
            <a:r>
              <a:rPr lang="en-US" sz="1900" dirty="0"/>
              <a:t> A visualization framework that defines how graphics represent data.</a:t>
            </a:r>
          </a:p>
          <a:p>
            <a:r>
              <a:rPr lang="en-US" sz="1900" dirty="0"/>
              <a:t> Every visualization can be broken into seven layers:</a:t>
            </a:r>
          </a:p>
          <a:p>
            <a:pPr marL="0" indent="0">
              <a:buNone/>
            </a:pPr>
            <a:r>
              <a:rPr lang="en-US" sz="1900" dirty="0"/>
              <a:t> 1. Data</a:t>
            </a:r>
          </a:p>
          <a:p>
            <a:pPr marL="0" indent="0">
              <a:buNone/>
            </a:pPr>
            <a:r>
              <a:rPr lang="en-US" sz="1900" dirty="0"/>
              <a:t>2. Aesthetics</a:t>
            </a:r>
          </a:p>
          <a:p>
            <a:pPr marL="0" indent="0">
              <a:buNone/>
            </a:pPr>
            <a:r>
              <a:rPr lang="en-US" sz="1900" dirty="0"/>
              <a:t>3. Geometric Objects</a:t>
            </a:r>
          </a:p>
          <a:p>
            <a:pPr marL="0" indent="0">
              <a:buNone/>
            </a:pPr>
            <a:r>
              <a:rPr lang="en-US" sz="1900" dirty="0"/>
              <a:t>4. Statistical Transformations</a:t>
            </a:r>
          </a:p>
          <a:p>
            <a:pPr marL="0" indent="0">
              <a:buNone/>
            </a:pPr>
            <a:r>
              <a:rPr lang="en-US" sz="1900" dirty="0"/>
              <a:t>5. Scales</a:t>
            </a:r>
          </a:p>
          <a:p>
            <a:pPr marL="0" indent="0">
              <a:buNone/>
            </a:pPr>
            <a:r>
              <a:rPr lang="en-US" sz="1900" dirty="0"/>
              <a:t>6. Coordinate Systems</a:t>
            </a:r>
          </a:p>
          <a:p>
            <a:pPr marL="0" indent="0">
              <a:buNone/>
            </a:pPr>
            <a:r>
              <a:rPr lang="en-US" sz="1900" dirty="0"/>
              <a:t>7. Facets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6C6318-02E4-4C54-B2E2-43434F408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26720"/>
            <a:ext cx="7879842" cy="19191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 1 – Data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0AB80E-2F53-C157-F10E-87BF9D119A05}"/>
              </a:ext>
            </a:extLst>
          </p:cNvPr>
          <p:cNvSpPr txBox="1">
            <a:spLocks/>
          </p:cNvSpPr>
          <p:nvPr/>
        </p:nvSpPr>
        <p:spPr>
          <a:xfrm>
            <a:off x="630936" y="3337269"/>
            <a:ext cx="7882128" cy="2905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 The dataset is the foundation of the visualization.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 In Plotnine, data is passed inside the ggplot() function.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Example: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  df = pd.read_csv('BostonHousing.csv')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ggplot(df)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/>
              <a:t>Defines the source but no visual output yet.</a:t>
            </a:r>
          </a:p>
        </p:txBody>
      </p:sp>
    </p:spTree>
    <p:extLst>
      <p:ext uri="{BB962C8B-B14F-4D97-AF65-F5344CB8AC3E}">
        <p14:creationId xmlns:p14="http://schemas.microsoft.com/office/powerpoint/2010/main" val="2421559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/>
              <a:t>Layer 2 – Aesthetics (aes)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620F7A-AB03-D642-6050-8FEBC9CE3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426727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Layer 3 – Geometric Objects (geoms)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 </a:t>
            </a:r>
            <a:r>
              <a:rPr lang="en-US" sz="2400" dirty="0" err="1"/>
              <a:t>Geoms</a:t>
            </a:r>
            <a:r>
              <a:rPr lang="en-US" sz="2400" dirty="0"/>
              <a:t> define the type of visual mark (point, bar, line, box, etc.).</a:t>
            </a:r>
          </a:p>
          <a:p>
            <a:r>
              <a:rPr lang="en-US" sz="2400" dirty="0"/>
              <a:t>Each </a:t>
            </a:r>
            <a:r>
              <a:rPr lang="en-US" sz="2400" dirty="0" err="1"/>
              <a:t>geom</a:t>
            </a:r>
            <a:r>
              <a:rPr lang="en-US" sz="2400" dirty="0"/>
              <a:t> layer adds a visual representation.</a:t>
            </a:r>
          </a:p>
          <a:p>
            <a:pPr marL="0" indent="0">
              <a:buNone/>
            </a:pPr>
            <a:r>
              <a:rPr lang="en-US" sz="2400" dirty="0"/>
              <a:t>Examples: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geom_point</a:t>
            </a:r>
            <a:r>
              <a:rPr lang="en-US" sz="2400" dirty="0"/>
              <a:t>(): scatterplot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geom_histogram</a:t>
            </a:r>
            <a:r>
              <a:rPr lang="en-US" sz="2400" dirty="0"/>
              <a:t>(): histogram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geom_boxplot</a:t>
            </a:r>
            <a:r>
              <a:rPr lang="en-US" sz="2400" dirty="0"/>
              <a:t>(): box plot</a:t>
            </a:r>
          </a:p>
          <a:p>
            <a:r>
              <a:rPr lang="en-US" sz="2400" dirty="0"/>
              <a:t> Multiple </a:t>
            </a:r>
            <a:r>
              <a:rPr lang="en-US" sz="2400" dirty="0" err="1"/>
              <a:t>geoms</a:t>
            </a:r>
            <a:r>
              <a:rPr lang="en-US" sz="2400" dirty="0"/>
              <a:t> can be layered together for richer visuals.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Layers 4 &amp; 5 – Statistical Transformations and Scales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/>
              <a:t> Statistical transformations summarize or compute derived data before plotting.</a:t>
            </a:r>
          </a:p>
          <a:p>
            <a:pPr marL="0" indent="0">
              <a:buNone/>
            </a:pPr>
            <a:r>
              <a:rPr lang="en-US" sz="1900"/>
              <a:t>Example: geom_histogram() uses stat_bin to create bins.</a:t>
            </a:r>
          </a:p>
          <a:p>
            <a:r>
              <a:rPr lang="en-US" sz="1900"/>
              <a:t>Scales control how data maps to aesthetics.</a:t>
            </a:r>
          </a:p>
          <a:p>
            <a:pPr marL="0" indent="0">
              <a:buNone/>
            </a:pPr>
            <a:r>
              <a:rPr lang="en-US" sz="1900"/>
              <a:t> Example: scale_x_log10() or scale_fill_gradient().</a:t>
            </a:r>
          </a:p>
          <a:p>
            <a:r>
              <a:rPr lang="en-US" sz="1900"/>
              <a:t>Together, they control the mathematical and visual interpretation of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Layer 6 – Coordinate Systems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2400" dirty="0"/>
              <a:t> Coordinate systems define how data points are arranged in space.</a:t>
            </a:r>
          </a:p>
          <a:p>
            <a:r>
              <a:rPr lang="en-US" sz="2400" dirty="0"/>
              <a:t> Default is Cartesian (x–y) coordinates.</a:t>
            </a:r>
          </a:p>
          <a:p>
            <a:r>
              <a:rPr lang="en-US" sz="2400" dirty="0" err="1"/>
              <a:t>coord_flip</a:t>
            </a:r>
            <a:r>
              <a:rPr lang="en-US" sz="2400" dirty="0"/>
              <a:t>(): swaps axes.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coord_polar</a:t>
            </a:r>
            <a:r>
              <a:rPr lang="en-US" sz="2400" dirty="0"/>
              <a:t>(): creates circular plots.</a:t>
            </a:r>
          </a:p>
          <a:p>
            <a:r>
              <a:rPr lang="en-US" sz="2400" dirty="0"/>
              <a:t>Changing coordinates changes how data is projected and compared.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Layer 7 – Facets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2400" dirty="0"/>
              <a:t> Facets split data into multiple panels based on a categorical variable.</a:t>
            </a:r>
          </a:p>
          <a:p>
            <a:r>
              <a:rPr lang="en-US" sz="2400" dirty="0"/>
              <a:t> Helps compare subgroups side by side.</a:t>
            </a:r>
          </a:p>
          <a:p>
            <a:pPr marL="0" indent="0">
              <a:buNone/>
            </a:pPr>
            <a:r>
              <a:rPr lang="en-US" sz="2400" dirty="0"/>
              <a:t>Example:</a:t>
            </a:r>
          </a:p>
          <a:p>
            <a:pPr marL="0" indent="0">
              <a:buNone/>
            </a:pPr>
            <a:r>
              <a:rPr lang="en-US" sz="2400" dirty="0" err="1"/>
              <a:t>facet_wrap</a:t>
            </a:r>
            <a:r>
              <a:rPr lang="en-US" sz="2400" dirty="0"/>
              <a:t>('~CHAS') → splits plots by river proximity.</a:t>
            </a:r>
          </a:p>
          <a:p>
            <a:r>
              <a:rPr lang="en-US" sz="2400" dirty="0"/>
              <a:t>Encourages pattern recognition across categories.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Why Grammar of Graphics Matters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2400" dirty="0"/>
              <a:t>Encourages structured, reusable visualization design.</a:t>
            </a:r>
          </a:p>
          <a:p>
            <a:r>
              <a:rPr lang="en-US" sz="2400" dirty="0"/>
              <a:t> Separates data representation (what) from styling (how).</a:t>
            </a:r>
          </a:p>
          <a:p>
            <a:r>
              <a:rPr lang="en-US" sz="2400" dirty="0"/>
              <a:t> Makes plots flexible, layered, and consistent across projects.</a:t>
            </a:r>
          </a:p>
          <a:p>
            <a:r>
              <a:rPr lang="en-US" sz="2400" dirty="0"/>
              <a:t>Core idea: Build visualizations systematically, not manually.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508</Words>
  <Application>Microsoft Macintosh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GG PLOT</vt:lpstr>
      <vt:lpstr>What is ggplot </vt:lpstr>
      <vt:lpstr>The Grammar of Graphics Explained</vt:lpstr>
      <vt:lpstr>Layer 1 – Data</vt:lpstr>
      <vt:lpstr>Layer 2 – Aesthetics (aes)</vt:lpstr>
      <vt:lpstr>Layer 3 – Geometric Objects (geoms)</vt:lpstr>
      <vt:lpstr>Layers 4 &amp; 5 – Statistical Transformations and Scales</vt:lpstr>
      <vt:lpstr>Layer 6 – Coordinate Systems</vt:lpstr>
      <vt:lpstr>Layer 7 – Facets</vt:lpstr>
      <vt:lpstr>Why Grammar of Graphics Matters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SUNDEEP RAVI</cp:lastModifiedBy>
  <cp:revision>2</cp:revision>
  <dcterms:created xsi:type="dcterms:W3CDTF">2013-01-27T09:14:16Z</dcterms:created>
  <dcterms:modified xsi:type="dcterms:W3CDTF">2025-11-03T17:33:00Z</dcterms:modified>
  <cp:category/>
</cp:coreProperties>
</file>